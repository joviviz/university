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"/>
  </p:notesMasterIdLst>
  <p:sldIdLst>
    <p:sldId id="784" r:id="rId2"/>
  </p:sldIdLst>
  <p:sldSz cx="12192000" cy="6858000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Tahoma" panose="020B0604030504040204" pitchFamily="34" charset="0"/>
      <p:regular r:id="rId12"/>
      <p:bold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15" autoAdjust="0"/>
  </p:normalViewPr>
  <p:slideViewPr>
    <p:cSldViewPr snapToGrid="0">
      <p:cViewPr varScale="1">
        <p:scale>
          <a:sx n="91" d="100"/>
          <a:sy n="91" d="100"/>
        </p:scale>
        <p:origin x="13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56758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3A1C909-6C38-4223-88A8-4EA6CFFEEA7B}"/>
              </a:ext>
            </a:extLst>
          </p:cNvPr>
          <p:cNvSpPr/>
          <p:nvPr userDrawn="1"/>
        </p:nvSpPr>
        <p:spPr>
          <a:xfrm>
            <a:off x="0" y="0"/>
            <a:ext cx="12195176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F1CA3B-4EDC-482D-A73A-F395534DE7B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828800" y="3428998"/>
            <a:ext cx="7776864" cy="504056"/>
          </a:xfrm>
          <a:prstGeom prst="rect">
            <a:avLst/>
          </a:prstGeom>
          <a:solidFill>
            <a:srgbClr val="EC0088"/>
          </a:solidFill>
          <a:ln w="9525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Arial" charset="0"/>
              </a:rPr>
              <a:t>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259382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06425" y="0"/>
            <a:ext cx="2734244" cy="1081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7" name="bg object 17"/>
          <p:cNvSpPr/>
          <p:nvPr userDrawn="1"/>
        </p:nvSpPr>
        <p:spPr>
          <a:xfrm>
            <a:off x="-26903" y="0"/>
            <a:ext cx="12255848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256282-837D-43BD-ABCC-6D7E4AD2DA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40149" y="2"/>
            <a:ext cx="4788796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4D2E5146-00DC-41E4-91E6-28B1D0ED9737}"/>
              </a:ext>
            </a:extLst>
          </p:cNvPr>
          <p:cNvSpPr/>
          <p:nvPr userDrawn="1"/>
        </p:nvSpPr>
        <p:spPr>
          <a:xfrm>
            <a:off x="9498396" y="13105"/>
            <a:ext cx="2688299" cy="823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0AB3A63-409F-473B-800A-20FCCAD7C8C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30" y="469317"/>
            <a:ext cx="10116133" cy="45719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27AD7DBF-C0A2-4F45-9196-BBB594983388}"/>
              </a:ext>
            </a:extLst>
          </p:cNvPr>
          <p:cNvSpPr txBox="1">
            <a:spLocks/>
          </p:cNvSpPr>
          <p:nvPr userDrawn="1"/>
        </p:nvSpPr>
        <p:spPr>
          <a:xfrm>
            <a:off x="143339" y="41877"/>
            <a:ext cx="7694645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43054E"/>
                </a:solidFill>
                <a:effectLst/>
                <a:uLnTx/>
                <a:uFillTx/>
                <a:latin typeface="Bookman Old Style" panose="02050604050505020204" pitchFamily="18" charset="0"/>
                <a:ea typeface="+mj-ea"/>
                <a:cs typeface="Tahoma"/>
              </a:rPr>
              <a:t>Engenharia de Software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90A14-2F48-4611-9EBC-8FA3ECF77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7" y="1196975"/>
            <a:ext cx="11328400" cy="5283200"/>
          </a:xfrm>
        </p:spPr>
        <p:txBody>
          <a:bodyPr/>
          <a:lstStyle>
            <a:lvl1pPr>
              <a:defRPr b="1">
                <a:solidFill>
                  <a:srgbClr val="512373"/>
                </a:solidFill>
              </a:defRPr>
            </a:lvl1pPr>
            <a:lvl2pPr>
              <a:defRPr b="1">
                <a:solidFill>
                  <a:srgbClr val="512373"/>
                </a:solidFill>
              </a:defRPr>
            </a:lvl2pPr>
            <a:lvl3pPr>
              <a:defRPr b="1">
                <a:solidFill>
                  <a:srgbClr val="512373"/>
                </a:solidFill>
              </a:defRPr>
            </a:lvl3pPr>
            <a:lvl4pPr>
              <a:defRPr b="1">
                <a:solidFill>
                  <a:srgbClr val="512373"/>
                </a:solidFill>
              </a:defRPr>
            </a:lvl4pPr>
            <a:lvl5pPr>
              <a:defRPr b="1">
                <a:solidFill>
                  <a:srgbClr val="512373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8793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>
            <a:extLst>
              <a:ext uri="{FF2B5EF4-FFF2-40B4-BE49-F238E27FC236}">
                <a16:creationId xmlns:a16="http://schemas.microsoft.com/office/drawing/2014/main" id="{FAB70E34-E70C-43B2-8CB1-AA298FC0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" y="-100013"/>
            <a:ext cx="2112433" cy="58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4DAA308-0685-4399-865F-B7229C3033A8}"/>
              </a:ext>
            </a:extLst>
          </p:cNvPr>
          <p:cNvCxnSpPr/>
          <p:nvPr userDrawn="1"/>
        </p:nvCxnSpPr>
        <p:spPr>
          <a:xfrm>
            <a:off x="48684" y="547688"/>
            <a:ext cx="12192000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AACEA8EF-BBD6-4BFD-8CA6-1A75C174A5B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543605" y="-27384"/>
            <a:ext cx="9313928" cy="514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Bookman Old Style"/>
                <a:ea typeface="+mj-ea"/>
                <a:cs typeface="+mj-cs"/>
              </a:rPr>
              <a:t>Tópicos Gerais de Tecnologia da Informação - TGTI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339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339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ctangle 218">
            <a:extLst>
              <a:ext uri="{FF2B5EF4-FFF2-40B4-BE49-F238E27FC236}">
                <a16:creationId xmlns:a16="http://schemas.microsoft.com/office/drawing/2014/main" id="{C0B93747-1E53-43BD-BABF-915BAF681B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B5C876-D37D-42AC-9EEF-7507D239937E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9" name="Rectangle 219">
            <a:extLst>
              <a:ext uri="{FF2B5EF4-FFF2-40B4-BE49-F238E27FC236}">
                <a16:creationId xmlns:a16="http://schemas.microsoft.com/office/drawing/2014/main" id="{E12621E8-3B97-4E48-A32E-3A565C3F9A7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10" name="Rectangle 220">
            <a:extLst>
              <a:ext uri="{FF2B5EF4-FFF2-40B4-BE49-F238E27FC236}">
                <a16:creationId xmlns:a16="http://schemas.microsoft.com/office/drawing/2014/main" id="{4455B065-C226-4E22-BFB0-71199A84C1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© 2004 by Pearson Education</a:t>
            </a:r>
          </a:p>
        </p:txBody>
      </p:sp>
    </p:spTree>
    <p:extLst>
      <p:ext uri="{BB962C8B-B14F-4D97-AF65-F5344CB8AC3E}">
        <p14:creationId xmlns:p14="http://schemas.microsoft.com/office/powerpoint/2010/main" val="283400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2810" y="1905000"/>
            <a:ext cx="9146381" cy="2667000"/>
          </a:xfrm>
        </p:spPr>
        <p:txBody>
          <a:bodyPr rtlCol="0">
            <a:noAutofit/>
          </a:bodyPr>
          <a:lstStyle>
            <a:lvl1pPr rtl="0">
              <a:defRPr sz="4051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256" name="linha" descr="Gráfico de linhas"/>
          <p:cNvGrpSpPr/>
          <p:nvPr/>
        </p:nvGrpSpPr>
        <p:grpSpPr bwMode="invGray">
          <a:xfrm>
            <a:off x="1585309" y="4724400"/>
            <a:ext cx="8634184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58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59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0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1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2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3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4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5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6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7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8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69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0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1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2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3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4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5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6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7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8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79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0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1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2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3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4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5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6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7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8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89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0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1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2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3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4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5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6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7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8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299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0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1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2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3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4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5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6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7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8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09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0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1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2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3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4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5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6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7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8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19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0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1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2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3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4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5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6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7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8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29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0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1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2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3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4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5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6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7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8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39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0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1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2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3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4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5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6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7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8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49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0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1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2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3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4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5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6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7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8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59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0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1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2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3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4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5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6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7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8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69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0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1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2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3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4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5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6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7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8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379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endParaRPr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810" y="5105400"/>
            <a:ext cx="9146381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030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811" y="274638"/>
            <a:ext cx="9146380" cy="1020762"/>
          </a:xfrm>
        </p:spPr>
        <p:txBody>
          <a:bodyPr rtlCol="0" anchor="b">
            <a:noAutofit/>
          </a:bodyPr>
          <a:lstStyle>
            <a:lvl1pPr algn="l" rtl="0">
              <a:defRPr sz="2401" b="0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2809" y="3429000"/>
            <a:ext cx="2743915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 rtl="0"/>
            <a:r>
              <a:rPr lang="pt-BR"/>
              <a:t>Editar estilos de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11248" y="1905000"/>
            <a:ext cx="5670757" cy="40386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 baseline="0"/>
            </a:lvl7pPr>
            <a:lvl8pPr>
              <a:defRPr sz="1200" baseline="0"/>
            </a:lvl8pPr>
            <a:lvl9pPr>
              <a:defRPr sz="1200" baseline="0"/>
            </a:lvl9pPr>
          </a:lstStyle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grpSp>
        <p:nvGrpSpPr>
          <p:cNvPr id="615" name="quadro" descr="Gráfico de caixas"/>
          <p:cNvGrpSpPr/>
          <p:nvPr/>
        </p:nvGrpSpPr>
        <p:grpSpPr bwMode="invGray">
          <a:xfrm>
            <a:off x="4418989" y="1630823"/>
            <a:ext cx="6292667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6" name="Forma Liv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2" name="Forma Liv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6" name="Forma Liv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5CA678-7531-4BBD-B1E6-6A1CA37BCB1B}" type="datetime1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08/09/2025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A54BD-C84D-46CE-8B72-31BFB26ABA4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51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 rtlCol="0" anchor="b">
            <a:noAutofit/>
          </a:bodyPr>
          <a:lstStyle>
            <a:lvl1pPr algn="l">
              <a:defRPr sz="2401" b="0">
                <a:latin typeface="FFF Tusj" panose="02040802050405020203" pitchFamily="18" charset="0"/>
              </a:defRPr>
            </a:lvl1pPr>
          </a:lstStyle>
          <a:p>
            <a:pPr rt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1746292" y="1884311"/>
            <a:ext cx="5670757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1800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grpSp>
        <p:nvGrpSpPr>
          <p:cNvPr id="614" name="quadro" descr="Gráfico de caixas"/>
          <p:cNvGrpSpPr/>
          <p:nvPr/>
        </p:nvGrpSpPr>
        <p:grpSpPr bwMode="invGray">
          <a:xfrm flipH="1">
            <a:off x="1447877" y="1630823"/>
            <a:ext cx="6292667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v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8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9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0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91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v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2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3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4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5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6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7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8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9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0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1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2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3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4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5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6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7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8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89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0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1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2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3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4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5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6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7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8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9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0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1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2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3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4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5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6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7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8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9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0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1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2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3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4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5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6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7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8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9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0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1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2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3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4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5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6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7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8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9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0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1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2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3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4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5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6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7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8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39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0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1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2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v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0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1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2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3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v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3" name="Forma Liv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4" name="Forma Liv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5" name="Forma Liv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6" name="Forma Liv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7" name="Forma Liv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8" name="Forma Liv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29" name="Forma Liv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0" name="Forma Liv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1" name="Forma Liv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2" name="Forma Liv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3" name="Forma Liv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4" name="Forma Liv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5" name="Forma Liv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6" name="Forma Liv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7" name="Forma Liv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8" name="Forma Liv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39" name="Forma Liv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0" name="Forma Liv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1" name="Forma Liv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2" name="Forma Liv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3" name="Forma Liv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4" name="Forma Liv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5" name="Forma Liv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6" name="Forma Liv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7" name="Forma Liv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8" name="Forma Liv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49" name="Forma Liv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0" name="Forma Liv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1" name="Forma Liv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2" name="Forma Liv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3" name="Forma Liv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4" name="Forma Liv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5" name="Forma Liv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6" name="Forma Liv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7" name="Forma Liv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8" name="Forma Liv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59" name="Forma Liv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0" name="Forma Liv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1" name="Forma Liv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2" name="Forma Liv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3" name="Forma Liv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4" name="Forma Liv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5" name="Forma Liv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6" name="Forma Liv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7" name="Forma Liv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8" name="Forma Liv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69" name="Forma Liv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0" name="Forma Liv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1" name="Forma Liv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2" name="Forma Liv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3" name="Forma Liv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4" name="Forma Liv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5" name="Forma Liv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6" name="Forma Liv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7" name="Forma Liv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8" name="Forma Liv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79" name="Forma Liv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0" name="Forma Liv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1" name="Forma Liv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2" name="Forma Liv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3" name="Forma Liv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4" name="Forma Liv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5" name="Forma Liv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6" name="Forma Liv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7" name="Forma Liv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8" name="Forma Liv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89" name="Forma Liv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0" name="Forma Liv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1" name="Forma Liv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92" name="Forma Liv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</p:grpSp>
      </p:grp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08019" y="3411748"/>
            <a:ext cx="2743915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90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 rtl="0"/>
            <a:r>
              <a:rPr lang="pt-BR"/>
              <a:t>Editar estilos de texto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84FD6-C734-4162-88D8-0C01192F6E9B}" type="datetime1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08/09/2025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A54BD-C84D-46CE-8B72-31BFB26ABA4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563D-01A4-24A5-E260-6C5DD33D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D8655-568E-72A9-B787-E3C897CD2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EC208-AAB3-4790-A9B5-4E2D856D5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82EA1-C2AA-07D0-C149-D8A116285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EEB2C-8871-C2C3-E044-97C61E1B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F6266-6559-E4CC-B0B2-BC2405EC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63BAA-2C56-4410-9C6D-E2BEDB3A93BB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39264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24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987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74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77FFB-9F22-4184-888D-A92018379F1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073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8F5EBC06-95B0-C5A3-FDA6-3D272C1748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22">
            <a:extLst>
              <a:ext uri="{FF2B5EF4-FFF2-40B4-BE49-F238E27FC236}">
                <a16:creationId xmlns:a16="http://schemas.microsoft.com/office/drawing/2014/main" id="{79C5AC01-AF85-5ADA-CAB0-F121546AAC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F358BB74-0631-5655-008C-6DE931C66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C5DD8-2C95-432B-B4B6-33D40888C45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0122336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59360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A97F8A-BF2C-63FD-3275-F4A4F0ED4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82A0559-8709-D433-A2D8-D0DA49700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A64B4F-332E-E3F6-281A-E8BBB2B29E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881A9-1EC3-4A74-AB1E-FC2BE7DA92E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7345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7117" y="436564"/>
            <a:ext cx="10668000" cy="5556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848784" y="1304925"/>
            <a:ext cx="5232400" cy="48434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6284384" y="1304925"/>
            <a:ext cx="5232400" cy="4843463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1074A-16F6-3833-E277-1C238E3B52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88210-CFEA-6DE0-2C71-A42363B892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13FF5-F962-785A-54AB-FC6453CBB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C3DFC-6894-460C-BAC5-0083EB31A82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088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AF5AFF-C051-488B-A097-2466CA503F65}" type="datetimeFigureOut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08/09/2025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Bookman Old Style"/>
              <a:ea typeface="+mn-ea"/>
              <a:cs typeface="+mn-cs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4194F0-7A23-4FA5-B2C4-58EA214E89D0}" type="slidenum">
              <a:rPr kumimoji="0" lang="pt-BR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altLang="pt-B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65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8" r:id="rId4"/>
    <p:sldLayoutId id="2147483669" r:id="rId5"/>
    <p:sldLayoutId id="2147483670" r:id="rId6"/>
    <p:sldLayoutId id="2147483672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3" r:id="rId13"/>
    <p:sldLayoutId id="2147483684" r:id="rId14"/>
    <p:sldLayoutId id="214748368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9">
            <a:extLst>
              <a:ext uri="{FF2B5EF4-FFF2-40B4-BE49-F238E27FC236}">
                <a16:creationId xmlns:a16="http://schemas.microsoft.com/office/drawing/2014/main" id="{F9EFB402-B020-CFD9-C948-3E917C612240}"/>
              </a:ext>
            </a:extLst>
          </p:cNvPr>
          <p:cNvSpPr txBox="1">
            <a:spLocks/>
          </p:cNvSpPr>
          <p:nvPr/>
        </p:nvSpPr>
        <p:spPr>
          <a:xfrm>
            <a:off x="887858" y="988090"/>
            <a:ext cx="10867696" cy="48818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526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Caros Alunos da turma de Compiladores,</a:t>
            </a:r>
          </a:p>
          <a:p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Informo a todos que será realizada a 1ª Verificação de Aprendizagem bimestral no dia 29 de setembro de 2025 (Segunda-feira) no horário normal da aula das 8:00hrs às 10:50hrs na sala a definir no bloco 2 da </a:t>
            </a:r>
            <a:r>
              <a:rPr lang="pt-BR" sz="1800" b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biblioteca do CEUB</a:t>
            </a:r>
            <a:r>
              <a:rPr lang="pt-BR" sz="1800" b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. </a:t>
            </a:r>
          </a:p>
          <a:p>
            <a:endParaRPr lang="pt-BR" sz="1800" b="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 </a:t>
            </a: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 modalidade da Avaliação será presencial e individual. 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O formato da prova escrita com questões objetivas, subjetivas e sem consulta, trazer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   caneta azul ou preta no dia da realização.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O conteúdo da Prova corresponderá de toda matéria ministrada até a data da prova!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Tópicos de todas as Aulas slides, ministradas,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Textos dos estudos dirigidos,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b="0" kern="1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Textos orientadores de estudo da matéria de arquitetura de Software.</a:t>
            </a:r>
          </a:p>
          <a:p>
            <a:pPr algn="just"/>
            <a:r>
              <a:rPr lang="pt-BR" sz="1800" b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    </a:t>
            </a:r>
          </a:p>
          <a:p>
            <a:pPr algn="just"/>
            <a:r>
              <a:rPr lang="pt-BR" sz="1800" b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Times New Roman" panose="02020603050405020304" pitchFamily="18" charset="0"/>
              </a:rPr>
              <a:t>    Att. Professor Leonardo Pol</a:t>
            </a:r>
            <a:endParaRPr lang="pt-BR" sz="1800" b="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7F370627-4F7F-C3E0-3127-B6D81619CD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5000" y="4852169"/>
            <a:ext cx="1824554" cy="16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477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</TotalTime>
  <Words>137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Verdana</vt:lpstr>
      <vt:lpstr>Calibri</vt:lpstr>
      <vt:lpstr>Tahoma</vt:lpstr>
      <vt:lpstr>Bookman Old Style</vt:lpstr>
      <vt:lpstr>Arial</vt:lpstr>
      <vt:lpstr>FFF Tusj</vt:lpstr>
      <vt:lpstr>Times New Roman</vt:lpstr>
      <vt:lpstr>1_Tema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Leonardo Pol Suarez</cp:lastModifiedBy>
  <cp:revision>226</cp:revision>
  <dcterms:modified xsi:type="dcterms:W3CDTF">2025-09-08T11:17:50Z</dcterms:modified>
</cp:coreProperties>
</file>