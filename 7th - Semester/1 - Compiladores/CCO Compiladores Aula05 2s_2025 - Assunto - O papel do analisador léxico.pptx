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360" r:id="rId2"/>
    <p:sldId id="256" r:id="rId3"/>
    <p:sldId id="361" r:id="rId4"/>
    <p:sldId id="362" r:id="rId5"/>
    <p:sldId id="363" r:id="rId6"/>
    <p:sldId id="364" r:id="rId7"/>
    <p:sldId id="365" r:id="rId8"/>
    <p:sldId id="340" r:id="rId9"/>
    <p:sldId id="522" r:id="rId10"/>
    <p:sldId id="342" r:id="rId11"/>
    <p:sldId id="266" r:id="rId12"/>
    <p:sldId id="343" r:id="rId13"/>
    <p:sldId id="269" r:id="rId14"/>
    <p:sldId id="344" r:id="rId15"/>
    <p:sldId id="366" r:id="rId16"/>
    <p:sldId id="389" r:id="rId17"/>
    <p:sldId id="368" r:id="rId18"/>
    <p:sldId id="390" r:id="rId19"/>
    <p:sldId id="370" r:id="rId20"/>
    <p:sldId id="392" r:id="rId21"/>
    <p:sldId id="393" r:id="rId22"/>
    <p:sldId id="394" r:id="rId23"/>
    <p:sldId id="395" r:id="rId24"/>
    <p:sldId id="396" r:id="rId25"/>
    <p:sldId id="397" r:id="rId26"/>
    <p:sldId id="377" r:id="rId27"/>
    <p:sldId id="378" r:id="rId28"/>
    <p:sldId id="379" r:id="rId29"/>
    <p:sldId id="380" r:id="rId30"/>
    <p:sldId id="381" r:id="rId31"/>
    <p:sldId id="398" r:id="rId32"/>
    <p:sldId id="399" r:id="rId33"/>
    <p:sldId id="400" r:id="rId34"/>
    <p:sldId id="401" r:id="rId35"/>
    <p:sldId id="402" r:id="rId36"/>
    <p:sldId id="387" r:id="rId37"/>
    <p:sldId id="521" r:id="rId38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96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01" autoAdjust="0"/>
    <p:restoredTop sz="94660"/>
  </p:normalViewPr>
  <p:slideViewPr>
    <p:cSldViewPr>
      <p:cViewPr varScale="1">
        <p:scale>
          <a:sx n="66" d="100"/>
          <a:sy n="66" d="100"/>
        </p:scale>
        <p:origin x="1252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3120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fld id="{4859EDC3-37D8-414D-B922-53683154B95E}" type="datetimeFigureOut">
              <a:rPr lang="pt-BR"/>
              <a:pPr>
                <a:defRPr/>
              </a:pPr>
              <a:t>22/09/2025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3163E55C-06B8-41DD-90F3-A37C8CAD85C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9EA5C10-D44B-4CA0-8883-5EC094D5A0E7}" type="datetimeFigureOut">
              <a:rPr lang="pt-BR"/>
              <a:pPr>
                <a:defRPr/>
              </a:pPr>
              <a:t>22/09/2025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2EE8C00-6FEC-4CB1-968B-51FFF1C4034E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56087EC-C1A0-44BF-8242-58D087D3C467}" type="slidenum">
              <a:rPr lang="pt-BR" altLang="pt-BR" sz="1300" smtClean="0"/>
              <a:pPr>
                <a:spcBef>
                  <a:spcPct val="0"/>
                </a:spcBef>
              </a:pPr>
              <a:t>5</a:t>
            </a:fld>
            <a:endParaRPr lang="pt-BR" altLang="pt-BR" sz="1300"/>
          </a:p>
        </p:txBody>
      </p:sp>
      <p:sp>
        <p:nvSpPr>
          <p:cNvPr id="921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20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457200" eaLnBrk="1" hangingPunct="1">
              <a:spcBef>
                <a:spcPct val="0"/>
              </a:spcBef>
            </a:pPr>
            <a:r>
              <a:rPr lang="en-US" altLang="pt-BR">
                <a:latin typeface="Arial" panose="020B0604020202020204" pitchFamily="34" charset="0"/>
              </a:rPr>
              <a:t>Linker resolve endereços de nomes externos não resolvidos dentro do próprio módulo; </a:t>
            </a:r>
          </a:p>
          <a:p>
            <a:pPr defTabSz="457200" eaLnBrk="1" hangingPunct="1">
              <a:spcBef>
                <a:spcPct val="0"/>
              </a:spcBef>
            </a:pPr>
            <a:r>
              <a:rPr lang="en-US" altLang="pt-BR">
                <a:latin typeface="Arial" panose="020B0604020202020204" pitchFamily="34" charset="0"/>
              </a:rPr>
              <a:t>Loader carrega o programa na memória</a:t>
            </a:r>
          </a:p>
        </p:txBody>
      </p:sp>
    </p:spTree>
    <p:extLst>
      <p:ext uri="{BB962C8B-B14F-4D97-AF65-F5344CB8AC3E}">
        <p14:creationId xmlns:p14="http://schemas.microsoft.com/office/powerpoint/2010/main" val="1322966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BA92F82-5291-4519-9829-E464CA72075A}" type="slidenum">
              <a:rPr lang="pt-BR" altLang="pt-BR" sz="1300" smtClean="0"/>
              <a:pPr>
                <a:spcBef>
                  <a:spcPct val="0"/>
                </a:spcBef>
              </a:pPr>
              <a:t>17</a:t>
            </a:fld>
            <a:endParaRPr lang="pt-BR" altLang="pt-BR" sz="1300"/>
          </a:p>
        </p:txBody>
      </p:sp>
      <p:sp>
        <p:nvSpPr>
          <p:cNvPr id="1536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4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457200" eaLnBrk="1" hangingPunct="1">
              <a:spcBef>
                <a:spcPct val="0"/>
              </a:spcBef>
            </a:pPr>
            <a:r>
              <a:rPr lang="en-US" altLang="pt-BR">
                <a:latin typeface="Arial" panose="020B0604020202020204" pitchFamily="34" charset="0"/>
              </a:rPr>
              <a:t>Todos interagem com a tabela de símbolos</a:t>
            </a:r>
          </a:p>
        </p:txBody>
      </p:sp>
    </p:spTree>
    <p:extLst>
      <p:ext uri="{BB962C8B-B14F-4D97-AF65-F5344CB8AC3E}">
        <p14:creationId xmlns:p14="http://schemas.microsoft.com/office/powerpoint/2010/main" val="395454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1EDFED9-D8EB-4373-8DCA-AB286C2FBA96}" type="slidenum">
              <a:rPr lang="pt-BR" altLang="pt-BR" sz="1300" smtClean="0"/>
              <a:pPr>
                <a:spcBef>
                  <a:spcPct val="0"/>
                </a:spcBef>
              </a:pPr>
              <a:t>36</a:t>
            </a:fld>
            <a:endParaRPr lang="pt-BR" altLang="pt-BR" sz="1300"/>
          </a:p>
        </p:txBody>
      </p:sp>
      <p:sp>
        <p:nvSpPr>
          <p:cNvPr id="35843" name="Rectangle 7"/>
          <p:cNvSpPr txBox="1">
            <a:spLocks noGrp="1" noChangeArrowheads="1"/>
          </p:cNvSpPr>
          <p:nvPr/>
        </p:nvSpPr>
        <p:spPr bwMode="auto">
          <a:xfrm>
            <a:off x="4143375" y="9123363"/>
            <a:ext cx="31718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1551" tIns="45775" rIns="91551" bIns="4577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fld id="{66BD475B-0ED4-4A7F-8C4B-653B8EB63624}" type="slidenum">
              <a:rPr lang="en-US" altLang="pt-BR"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36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19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51" tIns="45775" rIns="91551" bIns="45775"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181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738cdeca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738cdecab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6114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56758"/>
            <a:ext cx="777240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53A1C909-6C38-4223-88A8-4EA6CFFEEA7B}"/>
              </a:ext>
            </a:extLst>
          </p:cNvPr>
          <p:cNvSpPr/>
          <p:nvPr userDrawn="1"/>
        </p:nvSpPr>
        <p:spPr>
          <a:xfrm>
            <a:off x="0" y="0"/>
            <a:ext cx="9146382" cy="6857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3F1CA3B-4EDC-482D-A73A-F395534DE7B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2195736" y="2893275"/>
            <a:ext cx="3888432" cy="504056"/>
          </a:xfrm>
          <a:prstGeom prst="rect">
            <a:avLst/>
          </a:prstGeom>
          <a:solidFill>
            <a:srgbClr val="EC0088"/>
          </a:solidFill>
          <a:ln w="9525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algn="ctr"/>
            <a:r>
              <a:rPr lang="pt-BR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COMPILADORES</a:t>
            </a:r>
          </a:p>
        </p:txBody>
      </p:sp>
    </p:spTree>
    <p:extLst>
      <p:ext uri="{BB962C8B-B14F-4D97-AF65-F5344CB8AC3E}">
        <p14:creationId xmlns:p14="http://schemas.microsoft.com/office/powerpoint/2010/main" val="644630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904818" y="0"/>
            <a:ext cx="2050683" cy="10814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bg object 17"/>
          <p:cNvSpPr/>
          <p:nvPr userDrawn="1"/>
        </p:nvSpPr>
        <p:spPr>
          <a:xfrm>
            <a:off x="-20177" y="0"/>
            <a:ext cx="9191886" cy="68579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5256282-837D-43BD-ABCC-6D7E4AD2DAD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80111" y="1"/>
            <a:ext cx="3591597" cy="76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57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6">
            <a:extLst>
              <a:ext uri="{FF2B5EF4-FFF2-40B4-BE49-F238E27FC236}">
                <a16:creationId xmlns:a16="http://schemas.microsoft.com/office/drawing/2014/main" id="{4D2E5146-00DC-41E4-91E6-28B1D0ED9737}"/>
              </a:ext>
            </a:extLst>
          </p:cNvPr>
          <p:cNvSpPr/>
          <p:nvPr userDrawn="1"/>
        </p:nvSpPr>
        <p:spPr>
          <a:xfrm>
            <a:off x="7123797" y="13105"/>
            <a:ext cx="2016224" cy="8236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30AB3A63-409F-473B-800A-20FCCAD7C8C9}"/>
              </a:ext>
            </a:extLst>
          </p:cNvPr>
          <p:cNvPicPr preferRelativeResize="0"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8472" y="469316"/>
            <a:ext cx="7587100" cy="45719"/>
          </a:xfrm>
          <a:prstGeom prst="rect">
            <a:avLst/>
          </a:pr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27AD7DBF-C0A2-4F45-9196-BBB594983388}"/>
              </a:ext>
            </a:extLst>
          </p:cNvPr>
          <p:cNvSpPr txBox="1">
            <a:spLocks/>
          </p:cNvSpPr>
          <p:nvPr userDrawn="1"/>
        </p:nvSpPr>
        <p:spPr>
          <a:xfrm>
            <a:off x="107504" y="41877"/>
            <a:ext cx="5770984" cy="369332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Tahoma"/>
                <a:ea typeface="+mj-ea"/>
                <a:cs typeface="Tahoma"/>
              </a:defRPr>
            </a:lvl1pPr>
          </a:lstStyle>
          <a:p>
            <a:pPr rtl="0"/>
            <a:r>
              <a:rPr lang="pt-BR" sz="2400" kern="0" dirty="0">
                <a:solidFill>
                  <a:srgbClr val="43054E"/>
                </a:solidFill>
                <a:latin typeface="Bookman Old Style" panose="02050604050505020204" pitchFamily="18" charset="0"/>
              </a:rPr>
              <a:t>Compiladores</a:t>
            </a:r>
            <a:endParaRPr lang="pt-BR" sz="2400" b="1" i="0" kern="0" dirty="0">
              <a:solidFill>
                <a:srgbClr val="43054E"/>
              </a:solidFill>
              <a:latin typeface="Bookman Old Style" panose="02050604050505020204" pitchFamily="18" charset="0"/>
              <a:ea typeface="+mj-ea"/>
              <a:cs typeface="Tahoma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190A14-2F48-4611-9EBC-8FA3ECF77A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196975"/>
            <a:ext cx="8496300" cy="5283200"/>
          </a:xfrm>
        </p:spPr>
        <p:txBody>
          <a:bodyPr/>
          <a:lstStyle>
            <a:lvl1pPr>
              <a:defRPr b="1">
                <a:solidFill>
                  <a:srgbClr val="512373"/>
                </a:solidFill>
              </a:defRPr>
            </a:lvl1pPr>
            <a:lvl2pPr>
              <a:defRPr b="1">
                <a:solidFill>
                  <a:srgbClr val="512373"/>
                </a:solidFill>
              </a:defRPr>
            </a:lvl2pPr>
            <a:lvl3pPr>
              <a:defRPr b="1">
                <a:solidFill>
                  <a:srgbClr val="512373"/>
                </a:solidFill>
              </a:defRPr>
            </a:lvl3pPr>
            <a:lvl4pPr>
              <a:defRPr b="1">
                <a:solidFill>
                  <a:srgbClr val="512373"/>
                </a:solidFill>
              </a:defRPr>
            </a:lvl4pPr>
            <a:lvl5pPr>
              <a:defRPr b="1">
                <a:solidFill>
                  <a:srgbClr val="512373"/>
                </a:solidFill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823943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 object 16">
            <a:extLst>
              <a:ext uri="{FF2B5EF4-FFF2-40B4-BE49-F238E27FC236}">
                <a16:creationId xmlns:a16="http://schemas.microsoft.com/office/drawing/2014/main" id="{6E9F1BDC-C3C8-46F9-9FBC-5ED73D0FE429}"/>
              </a:ext>
            </a:extLst>
          </p:cNvPr>
          <p:cNvSpPr/>
          <p:nvPr userDrawn="1"/>
        </p:nvSpPr>
        <p:spPr>
          <a:xfrm>
            <a:off x="7236296" y="13105"/>
            <a:ext cx="1768683" cy="6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FCA8464-7A51-466C-A7C5-60B761BF3AD1}"/>
              </a:ext>
            </a:extLst>
          </p:cNvPr>
          <p:cNvPicPr preferRelativeResize="0"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30953"/>
            <a:ext cx="7740352" cy="45719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C8C16455-064A-482A-946C-EDC3CDE366A5}"/>
              </a:ext>
            </a:extLst>
          </p:cNvPr>
          <p:cNvSpPr txBox="1">
            <a:spLocks/>
          </p:cNvSpPr>
          <p:nvPr userDrawn="1"/>
        </p:nvSpPr>
        <p:spPr>
          <a:xfrm>
            <a:off x="107504" y="41877"/>
            <a:ext cx="5770984" cy="369332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Tahoma"/>
                <a:ea typeface="+mj-ea"/>
                <a:cs typeface="Tahoma"/>
              </a:defRPr>
            </a:lvl1pPr>
          </a:lstStyle>
          <a:p>
            <a:pPr rtl="0"/>
            <a:r>
              <a:rPr lang="pt-BR" sz="2400" kern="0" dirty="0">
                <a:solidFill>
                  <a:srgbClr val="43054E"/>
                </a:solidFill>
                <a:latin typeface="Bookman Old Style" panose="02050604050505020204" pitchFamily="18" charset="0"/>
              </a:rPr>
              <a:t>Compiladores</a:t>
            </a:r>
            <a:endParaRPr lang="pt-BR" sz="2400" b="1" i="0" kern="0" dirty="0">
              <a:solidFill>
                <a:srgbClr val="43054E"/>
              </a:solidFill>
              <a:latin typeface="Bookman Old Style" panose="02050604050505020204" pitchFamily="18" charset="0"/>
              <a:ea typeface="+mj-e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56525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de cantos arredondados 6"/>
          <p:cNvSpPr/>
          <p:nvPr userDrawn="1"/>
        </p:nvSpPr>
        <p:spPr>
          <a:xfrm>
            <a:off x="-17463" y="6669088"/>
            <a:ext cx="9144001" cy="215900"/>
          </a:xfrm>
          <a:prstGeom prst="roundRect">
            <a:avLst/>
          </a:prstGeom>
          <a:gradFill flip="none" rotWithShape="1">
            <a:gsLst>
              <a:gs pos="30000">
                <a:schemeClr val="accent6">
                  <a:lumMod val="75000"/>
                </a:schemeClr>
              </a:gs>
              <a:gs pos="50000">
                <a:schemeClr val="accent6">
                  <a:lumMod val="60000"/>
                  <a:lumOff val="40000"/>
                </a:schemeClr>
              </a:gs>
              <a:gs pos="96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Professor </a:t>
            </a:r>
            <a:r>
              <a:rPr lang="pt-BR" dirty="0" err="1">
                <a:solidFill>
                  <a:schemeClr val="tx2">
                    <a:lumMod val="75000"/>
                  </a:schemeClr>
                </a:solidFill>
              </a:rPr>
              <a:t>MSc</a:t>
            </a:r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 Rogério Alves  </a:t>
            </a:r>
          </a:p>
        </p:txBody>
      </p:sp>
      <p:pic>
        <p:nvPicPr>
          <p:cNvPr id="5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48"/>
          <a:stretch>
            <a:fillRect/>
          </a:stretch>
        </p:blipFill>
        <p:spPr bwMode="auto">
          <a:xfrm>
            <a:off x="288925" y="436563"/>
            <a:ext cx="8834438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ítulo 1"/>
          <p:cNvSpPr txBox="1">
            <a:spLocks/>
          </p:cNvSpPr>
          <p:nvPr userDrawn="1"/>
        </p:nvSpPr>
        <p:spPr bwMode="auto">
          <a:xfrm>
            <a:off x="1673225" y="-6350"/>
            <a:ext cx="6283325" cy="5032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>
              <a:defRPr/>
            </a:pPr>
            <a:r>
              <a:rPr lang="pt-BR" sz="24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ea typeface="Cambria Math" panose="02040503050406030204" pitchFamily="18" charset="0"/>
              </a:rPr>
              <a:t>Teste de Software - TSW</a:t>
            </a:r>
          </a:p>
        </p:txBody>
      </p:sp>
      <p:cxnSp>
        <p:nvCxnSpPr>
          <p:cNvPr id="7" name="Conector reto 6"/>
          <p:cNvCxnSpPr/>
          <p:nvPr userDrawn="1"/>
        </p:nvCxnSpPr>
        <p:spPr>
          <a:xfrm>
            <a:off x="107950" y="0"/>
            <a:ext cx="0" cy="6858000"/>
          </a:xfrm>
          <a:prstGeom prst="line">
            <a:avLst/>
          </a:prstGeom>
          <a:ln w="292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6350"/>
            <a:ext cx="12350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Espaço Reservado para Data 3"/>
          <p:cNvSpPr txBox="1">
            <a:spLocks/>
          </p:cNvSpPr>
          <p:nvPr userDrawn="1"/>
        </p:nvSpPr>
        <p:spPr>
          <a:xfrm>
            <a:off x="250825" y="6597650"/>
            <a:ext cx="2133600" cy="365125"/>
          </a:xfrm>
          <a:prstGeom prst="rect">
            <a:avLst/>
          </a:prstGeom>
        </p:spPr>
        <p:txBody>
          <a:bodyPr anchor="ctr"/>
          <a:lstStyle>
            <a:defPPr>
              <a:defRPr lang="pt-BR"/>
            </a:defPPr>
            <a:lvl1pPr algn="l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9pPr>
          </a:lstStyle>
          <a:p>
            <a:pPr eaLnBrk="1" hangingPunct="1">
              <a:defRPr/>
            </a:pPr>
            <a:fld id="{10B7B20A-8FD8-491C-AC51-90867F410D17}" type="datetimeFigureOut">
              <a:rPr lang="pt-BR" smtClean="0">
                <a:solidFill>
                  <a:schemeClr val="tx2">
                    <a:lumMod val="75000"/>
                  </a:schemeClr>
                </a:solidFill>
              </a:rPr>
              <a:pPr eaLnBrk="1" hangingPunct="1">
                <a:defRPr/>
              </a:pPr>
              <a:t>22/09/2025</a:t>
            </a:fld>
            <a:endParaRPr lang="pt-BR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9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1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EC042C-8C59-41B4-8762-E2D17CCAC18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98242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 userDrawn="1"/>
        </p:nvSpPr>
        <p:spPr bwMode="auto">
          <a:xfrm>
            <a:off x="1835150" y="180975"/>
            <a:ext cx="7075488" cy="5111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>
              <a:defRPr/>
            </a:pPr>
            <a:r>
              <a:rPr lang="pt-BR" sz="24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ea typeface="Cambria Math" panose="02040503050406030204" pitchFamily="18" charset="0"/>
              </a:rPr>
              <a:t>Teste de Software - TSW</a:t>
            </a:r>
          </a:p>
        </p:txBody>
      </p:sp>
      <p:cxnSp>
        <p:nvCxnSpPr>
          <p:cNvPr id="3" name="Conector reto 2"/>
          <p:cNvCxnSpPr/>
          <p:nvPr userDrawn="1"/>
        </p:nvCxnSpPr>
        <p:spPr>
          <a:xfrm>
            <a:off x="0" y="692150"/>
            <a:ext cx="9144000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/>
          <p:cNvCxnSpPr/>
          <p:nvPr userDrawn="1"/>
        </p:nvCxnSpPr>
        <p:spPr>
          <a:xfrm flipH="1">
            <a:off x="-25400" y="6727825"/>
            <a:ext cx="9169400" cy="0"/>
          </a:xfrm>
          <a:prstGeom prst="line">
            <a:avLst/>
          </a:prstGeom>
          <a:ln w="292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Data 3"/>
          <p:cNvSpPr txBox="1">
            <a:spLocks/>
          </p:cNvSpPr>
          <p:nvPr userDrawn="1"/>
        </p:nvSpPr>
        <p:spPr>
          <a:xfrm>
            <a:off x="4211638" y="6592888"/>
            <a:ext cx="936625" cy="365125"/>
          </a:xfrm>
          <a:prstGeom prst="rect">
            <a:avLst/>
          </a:prstGeom>
        </p:spPr>
        <p:txBody>
          <a:bodyPr anchor="ctr"/>
          <a:lstStyle>
            <a:defPPr>
              <a:defRPr lang="pt-BR"/>
            </a:defPPr>
            <a:lvl1pPr algn="l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pitchFamily="34" charset="0"/>
              </a:defRPr>
            </a:lvl9pPr>
          </a:lstStyle>
          <a:p>
            <a:pPr eaLnBrk="1" hangingPunct="1">
              <a:defRPr/>
            </a:pPr>
            <a:fld id="{10B7B20A-8FD8-491C-AC51-90867F410D17}" type="datetimeFigureOut">
              <a:rPr lang="pt-BR" smtClean="0">
                <a:solidFill>
                  <a:schemeClr val="tx2">
                    <a:lumMod val="75000"/>
                  </a:schemeClr>
                </a:solidFill>
              </a:rPr>
              <a:pPr eaLnBrk="1" hangingPunct="1">
                <a:defRPr/>
              </a:pPr>
              <a:t>22/09/2025</a:t>
            </a:fld>
            <a:endParaRPr lang="pt-BR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Retângulo 11"/>
          <p:cNvSpPr>
            <a:spLocks noChangeArrowheads="1"/>
          </p:cNvSpPr>
          <p:nvPr userDrawn="1"/>
        </p:nvSpPr>
        <p:spPr bwMode="auto">
          <a:xfrm>
            <a:off x="50800" y="6551613"/>
            <a:ext cx="2941638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altLang="pt-BR">
                <a:solidFill>
                  <a:srgbClr val="17375E"/>
                </a:solidFill>
              </a:rPr>
              <a:t>Professor MSc Rogério Alves  </a:t>
            </a:r>
          </a:p>
        </p:txBody>
      </p:sp>
      <p:pic>
        <p:nvPicPr>
          <p:cNvPr id="7" name="Imagem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44450"/>
            <a:ext cx="1584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Espaço Reservado para Número de Slide 5"/>
          <p:cNvSpPr>
            <a:spLocks noGrp="1"/>
          </p:cNvSpPr>
          <p:nvPr>
            <p:ph type="sldNum" sz="quarter" idx="10"/>
          </p:nvPr>
        </p:nvSpPr>
        <p:spPr>
          <a:xfrm>
            <a:off x="6975475" y="652462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C31D76F4-4AE7-4F21-BD63-FA292FE2998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59305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5CEF8BB-259D-48B0-BF96-27ED02FE0971}" type="datetimeFigureOut">
              <a:rPr lang="pt-BR"/>
              <a:pPr>
                <a:defRPr/>
              </a:pPr>
              <a:t>22/09/2025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fld id="{03F87B22-371B-4860-B878-AD14ADA3248F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38" r:id="rId5"/>
    <p:sldLayoutId id="2147483839" r:id="rId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5004048" y="6309320"/>
            <a:ext cx="3528392" cy="360040"/>
          </a:xfrm>
          <a:prstGeom prst="rect">
            <a:avLst/>
          </a:prstGeom>
        </p:spPr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pt-BR" sz="2000" b="1" i="1" dirty="0">
                <a:solidFill>
                  <a:prstClr val="white"/>
                </a:solidFill>
                <a:latin typeface="Bookman Old Style" panose="02050604050505020204" pitchFamily="18" charset="0"/>
                <a:cs typeface="Arial" charset="0"/>
              </a:rPr>
              <a:t>Professor: Leonardo Pol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endParaRPr lang="pt-BR" sz="2000" b="1" i="1" dirty="0">
              <a:solidFill>
                <a:prstClr val="white"/>
              </a:solidFill>
              <a:latin typeface="Bookman Old Style" panose="02050604050505020204" pitchFamily="18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398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1"/>
          <p:cNvSpPr>
            <a:spLocks noGrp="1" noChangeArrowheads="1"/>
          </p:cNvSpPr>
          <p:nvPr>
            <p:ph type="sldNum" sz="quarter" idx="7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CA901BAC-7498-4669-BAD7-BF7F23A63B27}" type="slidenum">
              <a:rPr lang="pt-BR" altLang="pt-BR">
                <a:solidFill>
                  <a:schemeClr val="bg1"/>
                </a:solidFill>
                <a:latin typeface="Arial" panose="020B0604020202020204" pitchFamily="34" charset="0"/>
              </a:rPr>
              <a:pPr/>
              <a:t>2</a:t>
            </a:fld>
            <a:endParaRPr lang="pt-BR" altLang="pt-BR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C353BF72-4292-4C41-99FF-805BD709983E}"/>
              </a:ext>
            </a:extLst>
          </p:cNvPr>
          <p:cNvSpPr txBox="1">
            <a:spLocks/>
          </p:cNvSpPr>
          <p:nvPr/>
        </p:nvSpPr>
        <p:spPr>
          <a:xfrm>
            <a:off x="1547664" y="3068960"/>
            <a:ext cx="6264696" cy="722538"/>
          </a:xfrm>
          <a:prstGeom prst="rect">
            <a:avLst/>
          </a:prstGeom>
          <a:solidFill>
            <a:srgbClr val="43054E"/>
          </a:solidFill>
        </p:spPr>
        <p:txBody>
          <a:bodyPr rtlCol="0">
            <a:noAutofit/>
          </a:bodyPr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altLang="pt-BR" sz="2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Aula 5 – O Papel do Analisador Léxico</a:t>
            </a:r>
            <a:endParaRPr lang="pt-BR" sz="24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 descr="Large confetti"/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620688"/>
            <a:ext cx="8373616" cy="1008112"/>
          </a:xfrm>
        </p:spPr>
        <p:txBody>
          <a:bodyPr anchor="ctr"/>
          <a:lstStyle/>
          <a:p>
            <a:pPr eaLnBrk="1" hangingPunct="1"/>
            <a:r>
              <a:rPr lang="en-US" altLang="pt-BR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Por</a:t>
            </a:r>
            <a:r>
              <a:rPr lang="en-US" altLang="pt-B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que é </a:t>
            </a:r>
            <a:r>
              <a:rPr lang="en-US" altLang="pt-BR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importante</a:t>
            </a:r>
            <a:r>
              <a:rPr lang="en-US" altLang="pt-B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pt-BR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conhecer</a:t>
            </a:r>
            <a:r>
              <a:rPr lang="en-US" altLang="pt-B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pt-BR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os</a:t>
            </a:r>
            <a:r>
              <a:rPr lang="en-US" altLang="pt-B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pt-BR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Compiladores</a:t>
            </a:r>
            <a:r>
              <a:rPr lang="en-US" altLang="pt-B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  <a:endParaRPr lang="pt-BR" altLang="pt-BR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536" y="1772816"/>
            <a:ext cx="8229600" cy="468052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pt-BR" sz="2800" dirty="0" err="1"/>
              <a:t>Conhecimento</a:t>
            </a:r>
            <a:r>
              <a:rPr lang="en-US" altLang="pt-BR" sz="2800" dirty="0"/>
              <a:t> das </a:t>
            </a:r>
            <a:r>
              <a:rPr lang="en-US" altLang="pt-BR" sz="2800" dirty="0" err="1"/>
              <a:t>estruturas</a:t>
            </a:r>
            <a:r>
              <a:rPr lang="en-US" altLang="pt-BR" sz="2800" dirty="0"/>
              <a:t> e </a:t>
            </a:r>
            <a:r>
              <a:rPr lang="en-US" altLang="pt-BR" sz="2800" dirty="0" err="1"/>
              <a:t>algorítmos</a:t>
            </a:r>
            <a:r>
              <a:rPr lang="en-US" altLang="pt-BR" sz="2800" dirty="0"/>
              <a:t> </a:t>
            </a:r>
            <a:r>
              <a:rPr lang="en-US" altLang="pt-BR" sz="2800" dirty="0" err="1"/>
              <a:t>usados</a:t>
            </a:r>
            <a:r>
              <a:rPr lang="en-US" altLang="pt-BR" sz="2800" dirty="0"/>
              <a:t> </a:t>
            </a:r>
            <a:r>
              <a:rPr lang="en-US" altLang="pt-BR" sz="2800" dirty="0" err="1"/>
              <a:t>na</a:t>
            </a:r>
            <a:r>
              <a:rPr lang="en-US" altLang="pt-BR" sz="2800" dirty="0"/>
              <a:t> </a:t>
            </a:r>
            <a:r>
              <a:rPr lang="en-US" altLang="pt-BR" sz="2800" dirty="0" err="1"/>
              <a:t>implementação</a:t>
            </a:r>
            <a:r>
              <a:rPr lang="en-US" altLang="pt-BR" sz="2800" dirty="0"/>
              <a:t> de </a:t>
            </a:r>
            <a:r>
              <a:rPr lang="en-US" altLang="pt-BR" sz="2800" dirty="0" err="1"/>
              <a:t>linguagens</a:t>
            </a:r>
            <a:r>
              <a:rPr lang="en-US" altLang="pt-BR" sz="2800" dirty="0"/>
              <a:t>: </a:t>
            </a:r>
            <a:r>
              <a:rPr lang="en-US" altLang="pt-BR" sz="2800" dirty="0" err="1"/>
              <a:t>noções</a:t>
            </a:r>
            <a:r>
              <a:rPr lang="en-US" altLang="pt-BR" sz="2800" dirty="0"/>
              <a:t> </a:t>
            </a:r>
            <a:r>
              <a:rPr lang="en-US" altLang="pt-BR" sz="2800" dirty="0" err="1"/>
              <a:t>importantes</a:t>
            </a:r>
            <a:r>
              <a:rPr lang="en-US" altLang="pt-BR" sz="2800" dirty="0"/>
              <a:t> </a:t>
            </a:r>
            <a:r>
              <a:rPr lang="en-US" altLang="pt-BR" sz="2800" dirty="0" err="1"/>
              <a:t>sobre</a:t>
            </a:r>
            <a:r>
              <a:rPr lang="en-US" altLang="pt-BR" sz="2800" dirty="0"/>
              <a:t> </a:t>
            </a:r>
            <a:r>
              <a:rPr lang="en-US" altLang="pt-BR" sz="2800" dirty="0" err="1"/>
              <a:t>uso</a:t>
            </a:r>
            <a:r>
              <a:rPr lang="en-US" altLang="pt-BR" sz="2800" dirty="0"/>
              <a:t> de </a:t>
            </a:r>
            <a:r>
              <a:rPr lang="en-US" altLang="pt-BR" sz="2800" dirty="0" err="1"/>
              <a:t>memória</a:t>
            </a:r>
            <a:r>
              <a:rPr lang="en-US" altLang="pt-BR" sz="2800" dirty="0"/>
              <a:t>, </a:t>
            </a:r>
            <a:r>
              <a:rPr lang="en-US" altLang="pt-BR" sz="2800" dirty="0" err="1"/>
              <a:t>eficiência</a:t>
            </a:r>
            <a:r>
              <a:rPr lang="en-US" altLang="pt-BR" sz="2800" dirty="0"/>
              <a:t>, etc.</a:t>
            </a:r>
          </a:p>
          <a:p>
            <a:pPr eaLnBrk="1" hangingPunct="1"/>
            <a:r>
              <a:rPr lang="en-US" altLang="pt-BR" sz="2800" dirty="0" err="1"/>
              <a:t>Aplicabilidade</a:t>
            </a:r>
            <a:r>
              <a:rPr lang="en-US" altLang="pt-BR" sz="2800" dirty="0"/>
              <a:t> </a:t>
            </a:r>
            <a:r>
              <a:rPr lang="en-US" altLang="pt-BR" sz="2800" dirty="0" err="1"/>
              <a:t>freqüente</a:t>
            </a:r>
            <a:r>
              <a:rPr lang="en-US" altLang="pt-BR" sz="2800" dirty="0"/>
              <a:t> </a:t>
            </a:r>
            <a:r>
              <a:rPr lang="en-US" altLang="pt-BR" sz="2800" dirty="0" err="1"/>
              <a:t>na</a:t>
            </a:r>
            <a:r>
              <a:rPr lang="en-US" altLang="pt-BR" sz="2800" dirty="0"/>
              <a:t> </a:t>
            </a:r>
            <a:r>
              <a:rPr lang="en-US" altLang="pt-BR" sz="2800" dirty="0" err="1"/>
              <a:t>solução</a:t>
            </a:r>
            <a:r>
              <a:rPr lang="en-US" altLang="pt-BR" sz="2800" dirty="0"/>
              <a:t> de </a:t>
            </a:r>
            <a:r>
              <a:rPr lang="en-US" altLang="pt-BR" sz="2800" dirty="0" err="1"/>
              <a:t>problemas</a:t>
            </a:r>
            <a:r>
              <a:rPr lang="en-US" altLang="pt-BR" sz="2800" dirty="0"/>
              <a:t> que </a:t>
            </a:r>
            <a:r>
              <a:rPr lang="en-US" altLang="pt-BR" sz="2800" dirty="0" err="1"/>
              <a:t>exigem</a:t>
            </a:r>
            <a:r>
              <a:rPr lang="en-US" altLang="pt-BR" sz="2800" dirty="0"/>
              <a:t> </a:t>
            </a:r>
            <a:r>
              <a:rPr lang="en-US" altLang="pt-BR" sz="2800" dirty="0" err="1"/>
              <a:t>alguma</a:t>
            </a:r>
            <a:r>
              <a:rPr lang="en-US" altLang="pt-BR" sz="2800" dirty="0"/>
              <a:t> forma de </a:t>
            </a:r>
            <a:r>
              <a:rPr lang="en-US" altLang="pt-BR" sz="2800" dirty="0" err="1"/>
              <a:t>tradução</a:t>
            </a:r>
            <a:r>
              <a:rPr lang="en-US" altLang="pt-BR" sz="2800" dirty="0"/>
              <a:t> entre </a:t>
            </a:r>
            <a:r>
              <a:rPr lang="en-US" altLang="pt-BR" sz="2800" dirty="0" err="1"/>
              <a:t>linguagens</a:t>
            </a:r>
            <a:r>
              <a:rPr lang="en-US" altLang="pt-BR" sz="2800" dirty="0"/>
              <a:t> </a:t>
            </a:r>
            <a:r>
              <a:rPr lang="en-US" altLang="pt-BR" sz="2800" dirty="0" err="1"/>
              <a:t>ou</a:t>
            </a:r>
            <a:r>
              <a:rPr lang="en-US" altLang="pt-BR" sz="2800" dirty="0"/>
              <a:t> </a:t>
            </a:r>
            <a:r>
              <a:rPr lang="en-US" altLang="pt-BR" sz="2800" dirty="0" err="1"/>
              <a:t>notações</a:t>
            </a:r>
            <a:r>
              <a:rPr lang="en-US" altLang="pt-BR" sz="2800" dirty="0"/>
              <a:t>.</a:t>
            </a:r>
          </a:p>
          <a:p>
            <a:pPr eaLnBrk="1" hangingPunct="1"/>
            <a:r>
              <a:rPr lang="en-US" altLang="pt-BR" sz="2800" dirty="0" err="1"/>
              <a:t>Implementação</a:t>
            </a:r>
            <a:r>
              <a:rPr lang="en-US" altLang="pt-BR" sz="2800" dirty="0"/>
              <a:t> de </a:t>
            </a:r>
            <a:r>
              <a:rPr lang="en-US" altLang="pt-BR" sz="2800" dirty="0" err="1"/>
              <a:t>linguagens</a:t>
            </a:r>
            <a:r>
              <a:rPr lang="en-US" altLang="pt-BR" sz="2800" dirty="0"/>
              <a:t> para um </a:t>
            </a:r>
            <a:r>
              <a:rPr lang="en-US" altLang="pt-BR" sz="2800" dirty="0" err="1"/>
              <a:t>domínio</a:t>
            </a:r>
            <a:r>
              <a:rPr lang="en-US" altLang="pt-BR" sz="2800" dirty="0"/>
              <a:t> </a:t>
            </a:r>
            <a:r>
              <a:rPr lang="en-US" altLang="pt-BR" sz="2800" dirty="0" err="1"/>
              <a:t>específico</a:t>
            </a:r>
            <a:r>
              <a:rPr lang="en-US" altLang="pt-BR" sz="2800" dirty="0"/>
              <a:t>.</a:t>
            </a:r>
          </a:p>
          <a:p>
            <a:pPr eaLnBrk="1" hangingPunct="1"/>
            <a:r>
              <a:rPr lang="en-US" altLang="pt-BR" sz="2800" dirty="0" err="1"/>
              <a:t>Geradores</a:t>
            </a:r>
            <a:r>
              <a:rPr lang="en-US" altLang="pt-BR" sz="2800" dirty="0"/>
              <a:t> e </a:t>
            </a:r>
            <a:r>
              <a:rPr lang="en-US" altLang="pt-BR" sz="2800" dirty="0" err="1"/>
              <a:t>analisadores</a:t>
            </a:r>
            <a:r>
              <a:rPr lang="en-US" altLang="pt-BR" sz="2800" dirty="0"/>
              <a:t> de </a:t>
            </a:r>
            <a:r>
              <a:rPr lang="en-US" altLang="pt-BR" sz="2800" dirty="0" err="1"/>
              <a:t>código</a:t>
            </a:r>
            <a:r>
              <a:rPr lang="en-US" altLang="pt-BR" sz="2800" dirty="0"/>
              <a:t>.</a:t>
            </a:r>
            <a:endParaRPr lang="pt-BR" altLang="pt-BR" sz="2800" dirty="0"/>
          </a:p>
        </p:txBody>
      </p:sp>
    </p:spTree>
    <p:extLst>
      <p:ext uri="{BB962C8B-B14F-4D97-AF65-F5344CB8AC3E}">
        <p14:creationId xmlns:p14="http://schemas.microsoft.com/office/powerpoint/2010/main" val="3342180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 descr="Large confetti"/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457200"/>
            <a:ext cx="8229600" cy="1143000"/>
          </a:xfrm>
        </p:spPr>
        <p:txBody>
          <a:bodyPr anchor="ctr"/>
          <a:lstStyle/>
          <a:p>
            <a:pPr eaLnBrk="1" hangingPunct="1"/>
            <a:r>
              <a:rPr lang="en-US" altLang="pt-BR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 </a:t>
            </a:r>
            <a:r>
              <a:rPr lang="en-US" altLang="pt-BR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Compilador</a:t>
            </a:r>
            <a:r>
              <a:rPr lang="en-US" altLang="pt-BR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e </a:t>
            </a:r>
            <a:r>
              <a:rPr lang="en-US" altLang="pt-BR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outras</a:t>
            </a:r>
            <a:r>
              <a:rPr lang="en-US" altLang="pt-BR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pt-BR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disciplinas</a:t>
            </a:r>
            <a:endParaRPr lang="pt-BR" altLang="pt-BR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536" y="1988841"/>
            <a:ext cx="8229600" cy="36004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pt-BR" dirty="0"/>
              <a:t>A </a:t>
            </a:r>
            <a:r>
              <a:rPr lang="en-US" altLang="pt-BR" dirty="0" err="1"/>
              <a:t>disciplina</a:t>
            </a:r>
            <a:r>
              <a:rPr lang="en-US" altLang="pt-BR" dirty="0"/>
              <a:t> de </a:t>
            </a:r>
            <a:r>
              <a:rPr lang="en-US" altLang="pt-BR" dirty="0" err="1"/>
              <a:t>compiladores</a:t>
            </a:r>
            <a:r>
              <a:rPr lang="en-US" altLang="pt-BR" dirty="0"/>
              <a:t> </a:t>
            </a:r>
            <a:r>
              <a:rPr lang="en-US" altLang="pt-BR" dirty="0" err="1"/>
              <a:t>faz</a:t>
            </a:r>
            <a:r>
              <a:rPr lang="en-US" altLang="pt-BR" dirty="0"/>
              <a:t> </a:t>
            </a:r>
            <a:r>
              <a:rPr lang="en-US" altLang="pt-BR" dirty="0" err="1"/>
              <a:t>uso</a:t>
            </a:r>
            <a:r>
              <a:rPr lang="en-US" altLang="pt-BR" dirty="0"/>
              <a:t> de um </a:t>
            </a:r>
            <a:r>
              <a:rPr lang="en-US" altLang="pt-BR" dirty="0" err="1"/>
              <a:t>grande</a:t>
            </a:r>
            <a:r>
              <a:rPr lang="en-US" altLang="pt-BR" dirty="0"/>
              <a:t> </a:t>
            </a:r>
            <a:r>
              <a:rPr lang="en-US" altLang="pt-BR" dirty="0" err="1"/>
              <a:t>número</a:t>
            </a:r>
            <a:r>
              <a:rPr lang="en-US" altLang="pt-BR" dirty="0"/>
              <a:t> de </a:t>
            </a:r>
            <a:r>
              <a:rPr lang="en-US" altLang="pt-BR" dirty="0" err="1"/>
              <a:t>conceitos</a:t>
            </a:r>
            <a:r>
              <a:rPr lang="en-US" altLang="pt-BR" dirty="0"/>
              <a:t> </a:t>
            </a:r>
            <a:r>
              <a:rPr lang="en-US" altLang="pt-BR" dirty="0" err="1"/>
              <a:t>estudados</a:t>
            </a:r>
            <a:r>
              <a:rPr lang="en-US" altLang="pt-BR" dirty="0"/>
              <a:t> </a:t>
            </a:r>
            <a:r>
              <a:rPr lang="en-US" altLang="pt-BR" dirty="0" err="1"/>
              <a:t>em</a:t>
            </a:r>
            <a:r>
              <a:rPr lang="en-US" altLang="pt-BR" dirty="0"/>
              <a:t> </a:t>
            </a:r>
            <a:r>
              <a:rPr lang="en-US" altLang="pt-BR" dirty="0" err="1"/>
              <a:t>outras</a:t>
            </a:r>
            <a:r>
              <a:rPr lang="en-US" altLang="pt-BR" dirty="0"/>
              <a:t> </a:t>
            </a:r>
            <a:r>
              <a:rPr lang="en-US" altLang="pt-BR" dirty="0" err="1"/>
              <a:t>disciplinas</a:t>
            </a:r>
            <a:r>
              <a:rPr lang="en-US" altLang="pt-BR" dirty="0"/>
              <a:t> do </a:t>
            </a:r>
            <a:r>
              <a:rPr lang="en-US" altLang="pt-BR" dirty="0" err="1"/>
              <a:t>curso</a:t>
            </a:r>
            <a:r>
              <a:rPr lang="en-US" altLang="pt-BR" dirty="0"/>
              <a:t>: </a:t>
            </a:r>
            <a:r>
              <a:rPr lang="en-US" altLang="pt-BR" dirty="0" err="1"/>
              <a:t>linguagens</a:t>
            </a:r>
            <a:r>
              <a:rPr lang="en-US" altLang="pt-BR" dirty="0"/>
              <a:t> de </a:t>
            </a:r>
            <a:r>
              <a:rPr lang="en-US" altLang="pt-BR" dirty="0" err="1"/>
              <a:t>programação</a:t>
            </a:r>
            <a:r>
              <a:rPr lang="en-US" altLang="pt-BR" dirty="0"/>
              <a:t>, </a:t>
            </a:r>
            <a:r>
              <a:rPr lang="en-US" altLang="pt-BR" dirty="0" err="1"/>
              <a:t>algorítmos</a:t>
            </a:r>
            <a:r>
              <a:rPr lang="en-US" altLang="pt-BR" dirty="0"/>
              <a:t>, </a:t>
            </a:r>
            <a:r>
              <a:rPr lang="en-US" altLang="pt-BR" dirty="0" err="1"/>
              <a:t>linguagens</a:t>
            </a:r>
            <a:r>
              <a:rPr lang="en-US" altLang="pt-BR" dirty="0"/>
              <a:t> </a:t>
            </a:r>
            <a:r>
              <a:rPr lang="en-US" altLang="pt-BR" dirty="0" err="1"/>
              <a:t>formais</a:t>
            </a:r>
            <a:r>
              <a:rPr lang="en-US" altLang="pt-BR" dirty="0"/>
              <a:t>, </a:t>
            </a:r>
            <a:r>
              <a:rPr lang="en-US" altLang="pt-BR" dirty="0" err="1"/>
              <a:t>arquitetura</a:t>
            </a:r>
            <a:r>
              <a:rPr lang="en-US" altLang="pt-BR" dirty="0"/>
              <a:t>, </a:t>
            </a:r>
            <a:r>
              <a:rPr lang="en-US" altLang="pt-BR" dirty="0" err="1"/>
              <a:t>engenharia</a:t>
            </a:r>
            <a:r>
              <a:rPr lang="en-US" altLang="pt-BR" dirty="0"/>
              <a:t> de software.</a:t>
            </a:r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902123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ChangeArrowheads="1"/>
          </p:cNvSpPr>
          <p:nvPr/>
        </p:nvSpPr>
        <p:spPr bwMode="auto">
          <a:xfrm>
            <a:off x="990600" y="4724400"/>
            <a:ext cx="20574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compilador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8195" name="Rectangle 6"/>
          <p:cNvSpPr>
            <a:spLocks noChangeArrowheads="1"/>
          </p:cNvSpPr>
          <p:nvPr/>
        </p:nvSpPr>
        <p:spPr bwMode="auto">
          <a:xfrm>
            <a:off x="990600" y="2362200"/>
            <a:ext cx="2057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preprocessador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8196" name="Rectangle 7"/>
          <p:cNvSpPr>
            <a:spLocks noChangeArrowheads="1"/>
          </p:cNvSpPr>
          <p:nvPr/>
        </p:nvSpPr>
        <p:spPr bwMode="auto">
          <a:xfrm>
            <a:off x="4495800" y="2209800"/>
            <a:ext cx="2057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assembler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8197" name="Rectangle 8"/>
          <p:cNvSpPr>
            <a:spLocks noChangeArrowheads="1"/>
          </p:cNvSpPr>
          <p:nvPr/>
        </p:nvSpPr>
        <p:spPr bwMode="auto">
          <a:xfrm>
            <a:off x="4572000" y="4343400"/>
            <a:ext cx="20574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Linker /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Loader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8198" name="Text Box 9"/>
          <p:cNvSpPr txBox="1">
            <a:spLocks noChangeArrowheads="1"/>
          </p:cNvSpPr>
          <p:nvPr/>
        </p:nvSpPr>
        <p:spPr bwMode="auto">
          <a:xfrm>
            <a:off x="1066800" y="1600200"/>
            <a:ext cx="207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Programa fonte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8199" name="Text Box 10"/>
          <p:cNvSpPr txBox="1">
            <a:spLocks noChangeArrowheads="1"/>
          </p:cNvSpPr>
          <p:nvPr/>
        </p:nvSpPr>
        <p:spPr bwMode="auto">
          <a:xfrm>
            <a:off x="914400" y="3581400"/>
            <a:ext cx="20907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Programa fonte </a:t>
            </a:r>
            <a:br>
              <a:rPr lang="en-US" altLang="pt-BR" sz="2400">
                <a:ea typeface="ＭＳ Ｐゴシック" panose="020B0600070205080204" pitchFamily="34" charset="-128"/>
              </a:rPr>
            </a:br>
            <a:r>
              <a:rPr lang="en-US" altLang="pt-BR" sz="2400">
                <a:ea typeface="ＭＳ Ｐゴシック" panose="020B0600070205080204" pitchFamily="34" charset="-128"/>
              </a:rPr>
              <a:t>   modificado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8200" name="Line 11"/>
          <p:cNvSpPr>
            <a:spLocks noChangeShapeType="1"/>
          </p:cNvSpPr>
          <p:nvPr/>
        </p:nvSpPr>
        <p:spPr bwMode="auto">
          <a:xfrm>
            <a:off x="2057400" y="2057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201" name="Line 12"/>
          <p:cNvSpPr>
            <a:spLocks noChangeShapeType="1"/>
          </p:cNvSpPr>
          <p:nvPr/>
        </p:nvSpPr>
        <p:spPr bwMode="auto">
          <a:xfrm>
            <a:off x="20574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202" name="Line 16"/>
          <p:cNvSpPr>
            <a:spLocks noChangeShapeType="1"/>
          </p:cNvSpPr>
          <p:nvPr/>
        </p:nvSpPr>
        <p:spPr bwMode="auto">
          <a:xfrm>
            <a:off x="5638800" y="5257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203" name="Line 19"/>
          <p:cNvSpPr>
            <a:spLocks noChangeShapeType="1"/>
          </p:cNvSpPr>
          <p:nvPr/>
        </p:nvSpPr>
        <p:spPr bwMode="auto">
          <a:xfrm>
            <a:off x="2057400" y="4419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204" name="Line 20"/>
          <p:cNvSpPr>
            <a:spLocks noChangeShapeType="1"/>
          </p:cNvSpPr>
          <p:nvPr/>
        </p:nvSpPr>
        <p:spPr bwMode="auto">
          <a:xfrm>
            <a:off x="56388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cxnSp>
        <p:nvCxnSpPr>
          <p:cNvPr id="8205" name="AutoShape 21"/>
          <p:cNvCxnSpPr>
            <a:cxnSpLocks noChangeShapeType="1"/>
            <a:stCxn id="8194" idx="2"/>
            <a:endCxn id="8196" idx="0"/>
          </p:cNvCxnSpPr>
          <p:nvPr/>
        </p:nvCxnSpPr>
        <p:spPr bwMode="auto">
          <a:xfrm rot="5400000" flipH="1" flipV="1">
            <a:off x="2019300" y="2209800"/>
            <a:ext cx="3505200" cy="3505200"/>
          </a:xfrm>
          <a:prstGeom prst="bentConnector5">
            <a:avLst>
              <a:gd name="adj1" fmla="val -6523"/>
              <a:gd name="adj2" fmla="val 50000"/>
              <a:gd name="adj3" fmla="val 106523"/>
            </a:avLst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06" name="Text Box 22"/>
          <p:cNvSpPr txBox="1">
            <a:spLocks noChangeArrowheads="1"/>
          </p:cNvSpPr>
          <p:nvPr/>
        </p:nvSpPr>
        <p:spPr bwMode="auto">
          <a:xfrm>
            <a:off x="533400" y="5943600"/>
            <a:ext cx="3109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Programa em assembler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8207" name="Text Box 23"/>
          <p:cNvSpPr txBox="1">
            <a:spLocks noChangeArrowheads="1"/>
          </p:cNvSpPr>
          <p:nvPr/>
        </p:nvSpPr>
        <p:spPr bwMode="auto">
          <a:xfrm>
            <a:off x="4038600" y="3505200"/>
            <a:ext cx="3311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Código objeto (relocável)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8208" name="Line 24"/>
          <p:cNvSpPr>
            <a:spLocks noChangeShapeType="1"/>
          </p:cNvSpPr>
          <p:nvPr/>
        </p:nvSpPr>
        <p:spPr bwMode="auto">
          <a:xfrm>
            <a:off x="5638800" y="3124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209" name="Text Box 25"/>
          <p:cNvSpPr txBox="1">
            <a:spLocks noChangeArrowheads="1"/>
          </p:cNvSpPr>
          <p:nvPr/>
        </p:nvSpPr>
        <p:spPr bwMode="auto">
          <a:xfrm>
            <a:off x="4343400" y="5715000"/>
            <a:ext cx="35353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Código objeto (executável)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8210" name="Line 26"/>
          <p:cNvSpPr>
            <a:spLocks noChangeShapeType="1"/>
          </p:cNvSpPr>
          <p:nvPr/>
        </p:nvSpPr>
        <p:spPr bwMode="auto">
          <a:xfrm flipH="1">
            <a:off x="6629400" y="4876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211" name="Text Box 27"/>
          <p:cNvSpPr txBox="1">
            <a:spLocks noChangeArrowheads="1"/>
          </p:cNvSpPr>
          <p:nvPr/>
        </p:nvSpPr>
        <p:spPr bwMode="auto">
          <a:xfrm>
            <a:off x="7086600" y="4495800"/>
            <a:ext cx="18684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Bibliotecas /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código objeto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8212" name="Text Box 9"/>
          <p:cNvSpPr txBox="1">
            <a:spLocks noChangeArrowheads="1"/>
          </p:cNvSpPr>
          <p:nvPr/>
        </p:nvSpPr>
        <p:spPr bwMode="auto">
          <a:xfrm>
            <a:off x="323528" y="634425"/>
            <a:ext cx="84969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ＭＳ Ｐゴシック" panose="020B0600070205080204" pitchFamily="34" charset="-128"/>
              </a:rPr>
              <a:t>Sistema de </a:t>
            </a:r>
            <a:r>
              <a:rPr lang="en-US" altLang="pt-BR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ＭＳ Ｐゴシック" panose="020B0600070205080204" pitchFamily="34" charset="-128"/>
              </a:rPr>
              <a:t>processamento</a:t>
            </a:r>
            <a:r>
              <a:rPr lang="en-US" alt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ＭＳ Ｐゴシック" panose="020B0600070205080204" pitchFamily="34" charset="-128"/>
              </a:rPr>
              <a:t> de </a:t>
            </a:r>
            <a:r>
              <a:rPr lang="en-US" altLang="pt-BR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ＭＳ Ｐゴシック" panose="020B0600070205080204" pitchFamily="34" charset="-128"/>
              </a:rPr>
              <a:t>uma</a:t>
            </a:r>
            <a:r>
              <a:rPr lang="en-US" altLang="pt-B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ＭＳ Ｐゴシック" panose="020B0600070205080204" pitchFamily="34" charset="-128"/>
              </a:rPr>
              <a:t> </a:t>
            </a:r>
            <a:r>
              <a:rPr lang="en-US" altLang="pt-BR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ＭＳ Ｐゴシック" panose="020B0600070205080204" pitchFamily="34" charset="-128"/>
              </a:rPr>
              <a:t>linguagem</a:t>
            </a:r>
            <a:endParaRPr lang="pt-BR" altLang="pt-BR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668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 descr="Large confetti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692696"/>
            <a:ext cx="8075240" cy="724942"/>
          </a:xfrm>
        </p:spPr>
        <p:txBody>
          <a:bodyPr anchor="ctr"/>
          <a:lstStyle/>
          <a:p>
            <a:pPr eaLnBrk="1" hangingPunct="1"/>
            <a:r>
              <a:rPr lang="en-US" altLang="pt-BR" sz="28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Programas</a:t>
            </a:r>
            <a:r>
              <a:rPr lang="en-US" altLang="pt-BR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pt-BR" sz="28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auxiliares</a:t>
            </a:r>
            <a:r>
              <a:rPr lang="en-US" altLang="pt-BR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do </a:t>
            </a:r>
            <a:r>
              <a:rPr lang="en-US" altLang="pt-BR" sz="28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processo</a:t>
            </a:r>
            <a:r>
              <a:rPr lang="en-US" altLang="pt-BR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de </a:t>
            </a:r>
            <a:r>
              <a:rPr lang="en-US" altLang="pt-BR" sz="28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compilação</a:t>
            </a:r>
            <a:endParaRPr lang="pt-BR" altLang="pt-BR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925144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pt-BR" dirty="0" err="1"/>
              <a:t>Preprocessadores</a:t>
            </a:r>
            <a:r>
              <a:rPr lang="en-US" altLang="pt-BR" dirty="0"/>
              <a:t>: </a:t>
            </a:r>
            <a:r>
              <a:rPr lang="en-US" altLang="pt-BR" dirty="0" err="1"/>
              <a:t>processam</a:t>
            </a:r>
            <a:r>
              <a:rPr lang="en-US" altLang="pt-BR" dirty="0"/>
              <a:t> macros, </a:t>
            </a:r>
            <a:r>
              <a:rPr lang="en-US" altLang="pt-BR" dirty="0" err="1"/>
              <a:t>incluem</a:t>
            </a:r>
            <a:r>
              <a:rPr lang="en-US" altLang="pt-BR" dirty="0"/>
              <a:t> de </a:t>
            </a:r>
            <a:r>
              <a:rPr lang="en-US" altLang="pt-BR" dirty="0" err="1"/>
              <a:t>arquivos</a:t>
            </a:r>
            <a:r>
              <a:rPr lang="en-US" altLang="pt-BR" dirty="0"/>
              <a:t>, </a:t>
            </a:r>
            <a:r>
              <a:rPr lang="en-US" altLang="pt-BR" dirty="0" err="1"/>
              <a:t>suportam</a:t>
            </a:r>
            <a:r>
              <a:rPr lang="en-US" altLang="pt-BR" dirty="0"/>
              <a:t> </a:t>
            </a:r>
            <a:r>
              <a:rPr lang="en-US" altLang="pt-BR" dirty="0" err="1"/>
              <a:t>compilação</a:t>
            </a:r>
            <a:r>
              <a:rPr lang="en-US" altLang="pt-BR" dirty="0"/>
              <a:t> </a:t>
            </a:r>
            <a:r>
              <a:rPr lang="en-US" altLang="pt-BR" dirty="0" err="1"/>
              <a:t>condicional</a:t>
            </a:r>
            <a:r>
              <a:rPr lang="en-US" altLang="pt-BR" dirty="0"/>
              <a:t> e </a:t>
            </a:r>
            <a:r>
              <a:rPr lang="en-US" altLang="pt-BR" dirty="0" err="1"/>
              <a:t>extensão</a:t>
            </a:r>
            <a:r>
              <a:rPr lang="en-US" altLang="pt-BR" dirty="0"/>
              <a:t> de </a:t>
            </a:r>
            <a:r>
              <a:rPr lang="en-US" altLang="pt-BR" dirty="0" err="1"/>
              <a:t>linguagens</a:t>
            </a:r>
            <a:r>
              <a:rPr lang="en-US" altLang="pt-BR" dirty="0"/>
              <a:t>.</a:t>
            </a:r>
          </a:p>
          <a:p>
            <a:pPr eaLnBrk="1" hangingPunct="1"/>
            <a:r>
              <a:rPr lang="en-US" altLang="pt-BR" dirty="0"/>
              <a:t>Assemblers: </a:t>
            </a:r>
            <a:r>
              <a:rPr lang="en-US" altLang="pt-BR" dirty="0" err="1"/>
              <a:t>servem</a:t>
            </a:r>
            <a:r>
              <a:rPr lang="en-US" altLang="pt-BR" dirty="0"/>
              <a:t> </a:t>
            </a:r>
            <a:r>
              <a:rPr lang="en-US" altLang="pt-BR" dirty="0" err="1"/>
              <a:t>como</a:t>
            </a:r>
            <a:r>
              <a:rPr lang="en-US" altLang="pt-BR" dirty="0"/>
              <a:t> </a:t>
            </a:r>
            <a:r>
              <a:rPr lang="en-US" altLang="pt-BR" dirty="0" err="1"/>
              <a:t>uma</a:t>
            </a:r>
            <a:r>
              <a:rPr lang="en-US" altLang="pt-BR" dirty="0"/>
              <a:t> </a:t>
            </a:r>
            <a:r>
              <a:rPr lang="en-US" altLang="pt-BR" dirty="0" err="1"/>
              <a:t>pequena</a:t>
            </a:r>
            <a:r>
              <a:rPr lang="en-US" altLang="pt-BR" dirty="0"/>
              <a:t> </a:t>
            </a:r>
            <a:r>
              <a:rPr lang="en-US" altLang="pt-BR" dirty="0" err="1"/>
              <a:t>abstração</a:t>
            </a:r>
            <a:r>
              <a:rPr lang="en-US" altLang="pt-BR" dirty="0"/>
              <a:t> da </a:t>
            </a:r>
            <a:r>
              <a:rPr lang="en-US" altLang="pt-BR" dirty="0" err="1"/>
              <a:t>arquitetura</a:t>
            </a:r>
            <a:r>
              <a:rPr lang="en-US" altLang="pt-BR" dirty="0"/>
              <a:t> da </a:t>
            </a:r>
            <a:r>
              <a:rPr lang="en-US" altLang="pt-BR" dirty="0" err="1"/>
              <a:t>máquina-destino</a:t>
            </a:r>
            <a:r>
              <a:rPr lang="en-US" altLang="pt-BR" dirty="0"/>
              <a:t>. São </a:t>
            </a:r>
            <a:r>
              <a:rPr lang="en-US" altLang="pt-BR" dirty="0" err="1"/>
              <a:t>na</a:t>
            </a:r>
            <a:r>
              <a:rPr lang="en-US" altLang="pt-BR" dirty="0"/>
              <a:t> </a:t>
            </a:r>
            <a:r>
              <a:rPr lang="en-US" altLang="pt-BR" dirty="0" err="1"/>
              <a:t>realidade</a:t>
            </a:r>
            <a:r>
              <a:rPr lang="en-US" altLang="pt-BR" dirty="0"/>
              <a:t> um </a:t>
            </a:r>
            <a:r>
              <a:rPr lang="en-US" altLang="pt-BR" dirty="0" err="1"/>
              <a:t>tradutor</a:t>
            </a:r>
            <a:r>
              <a:rPr lang="en-US" altLang="pt-BR" dirty="0"/>
              <a:t> /</a:t>
            </a:r>
            <a:r>
              <a:rPr lang="en-US" altLang="pt-BR" dirty="0" err="1"/>
              <a:t>compilador</a:t>
            </a:r>
            <a:r>
              <a:rPr lang="en-US" altLang="pt-BR" dirty="0"/>
              <a:t> simples, de </a:t>
            </a:r>
            <a:r>
              <a:rPr lang="en-US" altLang="pt-BR" dirty="0" err="1"/>
              <a:t>dois</a:t>
            </a:r>
            <a:r>
              <a:rPr lang="en-US" altLang="pt-BR" dirty="0"/>
              <a:t> </a:t>
            </a:r>
            <a:r>
              <a:rPr lang="en-US" altLang="pt-BR" dirty="0" err="1"/>
              <a:t>passos</a:t>
            </a:r>
            <a:r>
              <a:rPr lang="en-US" altLang="pt-BR" dirty="0"/>
              <a:t>, que </a:t>
            </a:r>
            <a:r>
              <a:rPr lang="en-US" altLang="pt-BR" dirty="0" err="1"/>
              <a:t>gera</a:t>
            </a:r>
            <a:r>
              <a:rPr lang="en-US" altLang="pt-BR" dirty="0"/>
              <a:t> </a:t>
            </a:r>
            <a:r>
              <a:rPr lang="en-US" altLang="pt-BR" dirty="0" err="1"/>
              <a:t>código</a:t>
            </a:r>
            <a:r>
              <a:rPr lang="en-US" altLang="pt-BR" dirty="0"/>
              <a:t> </a:t>
            </a:r>
            <a:r>
              <a:rPr lang="en-US" altLang="pt-BR" dirty="0" err="1"/>
              <a:t>relocável</a:t>
            </a:r>
            <a:r>
              <a:rPr lang="en-US" alt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3166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 descr="Large confetti"/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764704"/>
            <a:ext cx="8229600" cy="1143000"/>
          </a:xfrm>
        </p:spPr>
        <p:txBody>
          <a:bodyPr anchor="ctr"/>
          <a:lstStyle/>
          <a:p>
            <a:pPr eaLnBrk="1" hangingPunct="1"/>
            <a:r>
              <a:rPr lang="en-US" altLang="pt-BR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Programas</a:t>
            </a:r>
            <a:r>
              <a:rPr lang="en-US" altLang="pt-B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pt-BR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auxiliares</a:t>
            </a:r>
            <a:r>
              <a:rPr lang="en-US" altLang="pt-B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do </a:t>
            </a:r>
            <a:r>
              <a:rPr lang="en-US" altLang="pt-BR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processo</a:t>
            </a:r>
            <a:r>
              <a:rPr lang="en-US" altLang="pt-B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de </a:t>
            </a:r>
            <a:r>
              <a:rPr lang="en-US" altLang="pt-BR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compilação</a:t>
            </a:r>
            <a:r>
              <a:rPr lang="en-US" altLang="pt-B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(cont.)</a:t>
            </a:r>
            <a:endParaRPr lang="pt-BR" altLang="pt-BR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552" y="2276872"/>
            <a:ext cx="8229600" cy="331236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pt-BR" dirty="0" err="1"/>
              <a:t>Carregadores</a:t>
            </a:r>
            <a:r>
              <a:rPr lang="en-US" altLang="pt-BR" dirty="0"/>
              <a:t> (</a:t>
            </a:r>
            <a:r>
              <a:rPr lang="en-US" altLang="pt-BR" i="1" dirty="0"/>
              <a:t>loaders</a:t>
            </a:r>
            <a:r>
              <a:rPr lang="en-US" altLang="pt-BR" dirty="0"/>
              <a:t>) e </a:t>
            </a:r>
            <a:r>
              <a:rPr lang="en-US" altLang="pt-BR" dirty="0" err="1"/>
              <a:t>linkeditores</a:t>
            </a:r>
            <a:r>
              <a:rPr lang="en-US" altLang="pt-BR" dirty="0"/>
              <a:t> (</a:t>
            </a:r>
            <a:r>
              <a:rPr lang="en-US" altLang="pt-BR" i="1" dirty="0"/>
              <a:t>linkers</a:t>
            </a:r>
            <a:r>
              <a:rPr lang="en-US" altLang="pt-BR" dirty="0"/>
              <a:t>)</a:t>
            </a:r>
          </a:p>
          <a:p>
            <a:pPr lvl="1" eaLnBrk="1" hangingPunct="1"/>
            <a:r>
              <a:rPr lang="en-US" altLang="pt-BR" dirty="0" err="1"/>
              <a:t>Ajustam</a:t>
            </a:r>
            <a:r>
              <a:rPr lang="en-US" altLang="pt-BR" dirty="0"/>
              <a:t> o </a:t>
            </a:r>
            <a:r>
              <a:rPr lang="en-US" altLang="pt-BR" dirty="0" err="1"/>
              <a:t>código</a:t>
            </a:r>
            <a:r>
              <a:rPr lang="en-US" altLang="pt-BR" dirty="0"/>
              <a:t> </a:t>
            </a:r>
            <a:r>
              <a:rPr lang="en-US" altLang="pt-BR" dirty="0" err="1"/>
              <a:t>relocável</a:t>
            </a:r>
            <a:r>
              <a:rPr lang="en-US" altLang="pt-BR" dirty="0"/>
              <a:t>, </a:t>
            </a:r>
            <a:r>
              <a:rPr lang="en-US" altLang="pt-BR" dirty="0" err="1"/>
              <a:t>resolvem</a:t>
            </a:r>
            <a:r>
              <a:rPr lang="en-US" altLang="pt-BR" dirty="0"/>
              <a:t> </a:t>
            </a:r>
            <a:r>
              <a:rPr lang="en-US" altLang="pt-BR" dirty="0" err="1"/>
              <a:t>referências</a:t>
            </a:r>
            <a:r>
              <a:rPr lang="en-US" altLang="pt-BR" dirty="0"/>
              <a:t> </a:t>
            </a:r>
            <a:r>
              <a:rPr lang="en-US" altLang="pt-BR" dirty="0" err="1"/>
              <a:t>externas</a:t>
            </a:r>
            <a:r>
              <a:rPr lang="en-US" alt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7912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67544" y="825816"/>
            <a:ext cx="8100392" cy="812558"/>
          </a:xfrm>
          <a:prstGeom prst="rect">
            <a:avLst/>
          </a:prstGeom>
        </p:spPr>
        <p:txBody>
          <a:bodyPr spcFirstLastPara="1" vert="horz" wrap="square" lIns="0" tIns="182400" rIns="0" bIns="0" rtlCol="0" anchor="ctr" anchorCtr="0">
            <a:spAutoFit/>
          </a:bodyPr>
          <a:lstStyle/>
          <a:p>
            <a:pPr marL="579640">
              <a:lnSpc>
                <a:spcPct val="100000"/>
              </a:lnSpc>
              <a:spcBef>
                <a:spcPts val="68"/>
              </a:spcBef>
            </a:pPr>
            <a:r>
              <a:rPr sz="4000" dirty="0"/>
              <a:t>Interpretador</a:t>
            </a:r>
            <a:r>
              <a:rPr sz="4000" spc="-95" dirty="0"/>
              <a:t> </a:t>
            </a:r>
            <a:r>
              <a:rPr sz="4000" dirty="0"/>
              <a:t>x</a:t>
            </a:r>
            <a:r>
              <a:rPr sz="4000" spc="-92" dirty="0"/>
              <a:t> </a:t>
            </a:r>
            <a:r>
              <a:rPr sz="4000" spc="-7" dirty="0"/>
              <a:t>Compilador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6785" y="2171219"/>
            <a:ext cx="90768" cy="907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6785" y="3224123"/>
            <a:ext cx="90768" cy="907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0699" y="4256282"/>
            <a:ext cx="90768" cy="907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0699" y="4647014"/>
            <a:ext cx="90768" cy="9076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68576" y="2026855"/>
            <a:ext cx="5894711" cy="2776182"/>
          </a:xfrm>
          <a:prstGeom prst="rect">
            <a:avLst/>
          </a:prstGeom>
        </p:spPr>
        <p:txBody>
          <a:bodyPr vert="horz" wrap="square" lIns="0" tIns="36740" rIns="0" bIns="0" rtlCol="0">
            <a:spAutoFit/>
          </a:bodyPr>
          <a:lstStyle/>
          <a:p>
            <a:pPr marL="8645" marR="3458" algn="just" defTabSz="685800" eaLnBrk="1" fontAlgn="auto" hangingPunct="1">
              <a:lnSpc>
                <a:spcPts val="2444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</a:pP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O</a:t>
            </a:r>
            <a:r>
              <a:rPr sz="2178" kern="0" spc="82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computador</a:t>
            </a:r>
            <a:r>
              <a:rPr sz="2178" kern="0" spc="82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deve</a:t>
            </a:r>
            <a:r>
              <a:rPr sz="2178" kern="0" spc="77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converter</a:t>
            </a:r>
            <a:r>
              <a:rPr sz="2178" kern="0" spc="82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os</a:t>
            </a:r>
            <a:r>
              <a:rPr sz="2178" kern="0" spc="82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spc="-7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comandos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dados</a:t>
            </a:r>
            <a:r>
              <a:rPr sz="2178" kern="0" spc="416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em</a:t>
            </a:r>
            <a:r>
              <a:rPr sz="2178" kern="0" spc="418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linguagem</a:t>
            </a:r>
            <a:r>
              <a:rPr sz="2178" kern="0" spc="418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de</a:t>
            </a:r>
            <a:r>
              <a:rPr sz="2178" kern="0" spc="418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alto</a:t>
            </a:r>
            <a:r>
              <a:rPr sz="2178" kern="0" spc="418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nível</a:t>
            </a:r>
            <a:r>
              <a:rPr sz="2178" kern="0" spc="418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spc="-14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para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linguagem</a:t>
            </a:r>
            <a:r>
              <a:rPr sz="2178" kern="0" spc="-44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de</a:t>
            </a:r>
            <a:r>
              <a:rPr sz="2178" kern="0" spc="-38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máquina</a:t>
            </a:r>
            <a:r>
              <a:rPr sz="2178" kern="0" spc="-34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(códigos</a:t>
            </a:r>
            <a:r>
              <a:rPr sz="2178" kern="0" spc="-27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spc="-7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binários)</a:t>
            </a:r>
            <a:endParaRPr sz="2178" kern="0" dirty="0">
              <a:solidFill>
                <a:srgbClr val="000000"/>
              </a:solidFill>
              <a:latin typeface="Arial MT"/>
              <a:cs typeface="Arial MT"/>
              <a:sym typeface="Arial"/>
            </a:endParaRPr>
          </a:p>
          <a:p>
            <a:pPr marL="8645" marR="3458" algn="just" defTabSz="685800" eaLnBrk="1" fontAlgn="auto" hangingPunct="1">
              <a:lnSpc>
                <a:spcPts val="2444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</a:pP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Existem</a:t>
            </a:r>
            <a:r>
              <a:rPr sz="2178" kern="0" spc="446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dois</a:t>
            </a:r>
            <a:r>
              <a:rPr sz="2178" kern="0" spc="453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métodos</a:t>
            </a:r>
            <a:r>
              <a:rPr sz="2178" kern="0" spc="46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básicos</a:t>
            </a:r>
            <a:r>
              <a:rPr sz="2178" kern="0" spc="453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de</a:t>
            </a:r>
            <a:r>
              <a:rPr sz="2178" kern="0" spc="443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spc="-7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abordagem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na</a:t>
            </a:r>
            <a:r>
              <a:rPr sz="2178" kern="0" spc="518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tradução</a:t>
            </a:r>
            <a:r>
              <a:rPr sz="2178" kern="0" spc="524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de</a:t>
            </a:r>
            <a:r>
              <a:rPr sz="2178" kern="0" spc="524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linguagem</a:t>
            </a:r>
            <a:r>
              <a:rPr sz="2178" kern="0" spc="527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de</a:t>
            </a:r>
            <a:r>
              <a:rPr sz="2178" kern="0" spc="524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alto</a:t>
            </a:r>
            <a:r>
              <a:rPr sz="2178" kern="0" spc="518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nível</a:t>
            </a:r>
            <a:r>
              <a:rPr sz="2178" kern="0" spc="524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spc="-14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para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linguagem</a:t>
            </a:r>
            <a:r>
              <a:rPr sz="2178" kern="0" spc="-34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de</a:t>
            </a:r>
            <a:r>
              <a:rPr sz="2178" kern="0" spc="-31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spc="-7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máquina:</a:t>
            </a:r>
            <a:endParaRPr sz="2178" kern="0" dirty="0">
              <a:solidFill>
                <a:srgbClr val="000000"/>
              </a:solidFill>
              <a:latin typeface="Arial MT"/>
              <a:cs typeface="Arial MT"/>
              <a:sym typeface="Arial"/>
            </a:endParaRPr>
          </a:p>
          <a:p>
            <a:pPr marL="302571" marR="3540083" defTabSz="685800" eaLnBrk="1" fontAlgn="auto" hangingPunct="1">
              <a:lnSpc>
                <a:spcPts val="3077"/>
              </a:lnSpc>
              <a:spcBef>
                <a:spcPts val="55"/>
              </a:spcBef>
              <a:spcAft>
                <a:spcPts val="0"/>
              </a:spcAft>
              <a:buClr>
                <a:srgbClr val="000000"/>
              </a:buClr>
            </a:pPr>
            <a:r>
              <a:rPr sz="1906" kern="0" spc="-2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INTERPRETADOR </a:t>
            </a:r>
            <a:r>
              <a:rPr sz="1906" kern="0" spc="-7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COMPILADOR</a:t>
            </a:r>
            <a:endParaRPr sz="1906" kern="0" dirty="0">
              <a:solidFill>
                <a:srgbClr val="000000"/>
              </a:solidFill>
              <a:latin typeface="Arial MT"/>
              <a:cs typeface="Arial MT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body" sz="quarter" idx="10"/>
          </p:nvPr>
        </p:nvSpPr>
        <p:spPr>
          <a:xfrm>
            <a:off x="1115616" y="1913094"/>
            <a:ext cx="7214907" cy="3857321"/>
          </a:xfrm>
          <a:prstGeom prst="rect">
            <a:avLst/>
          </a:prstGeom>
        </p:spPr>
        <p:txBody>
          <a:bodyPr spcFirstLastPara="1" vert="horz" wrap="square" lIns="0" tIns="137016" rIns="0" bIns="0" rtlCol="0" anchor="t" anchorCtr="0">
            <a:spAutoFit/>
          </a:bodyPr>
          <a:lstStyle/>
          <a:p>
            <a:pPr marL="0" marR="4322" indent="0">
              <a:lnSpc>
                <a:spcPts val="2001"/>
              </a:lnSpc>
              <a:spcBef>
                <a:spcPts val="276"/>
              </a:spcBef>
              <a:buNone/>
            </a:pPr>
            <a:r>
              <a:rPr sz="2400" b="0" dirty="0">
                <a:solidFill>
                  <a:schemeClr val="tx1"/>
                </a:solidFill>
              </a:rPr>
              <a:t>O</a:t>
            </a:r>
            <a:r>
              <a:rPr sz="2400" b="0" spc="-4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programa</a:t>
            </a:r>
            <a:r>
              <a:rPr sz="2400" b="0" spc="4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conversor</a:t>
            </a:r>
            <a:r>
              <a:rPr sz="2400" b="0" spc="4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recebe</a:t>
            </a:r>
            <a:r>
              <a:rPr sz="2400" b="0" spc="-4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a  primeira</a:t>
            </a:r>
            <a:r>
              <a:rPr sz="2400" b="0" spc="4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instrução  </a:t>
            </a:r>
            <a:r>
              <a:rPr sz="2400" b="0" spc="-17" dirty="0">
                <a:solidFill>
                  <a:schemeClr val="tx1"/>
                </a:solidFill>
              </a:rPr>
              <a:t>do </a:t>
            </a:r>
            <a:r>
              <a:rPr sz="2400" b="0" dirty="0">
                <a:solidFill>
                  <a:schemeClr val="tx1"/>
                </a:solidFill>
              </a:rPr>
              <a:t>programa</a:t>
            </a:r>
            <a:r>
              <a:rPr sz="2400" b="0" spc="320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fonte,</a:t>
            </a:r>
            <a:r>
              <a:rPr sz="2400" b="0" spc="320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confere</a:t>
            </a:r>
            <a:r>
              <a:rPr sz="2400" b="0" spc="323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para</a:t>
            </a:r>
            <a:r>
              <a:rPr sz="2400" b="0" spc="320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ver</a:t>
            </a:r>
            <a:r>
              <a:rPr sz="2400" b="0" spc="323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se</a:t>
            </a:r>
            <a:r>
              <a:rPr sz="2400" b="0" spc="320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está</a:t>
            </a:r>
            <a:r>
              <a:rPr sz="2400" b="0" spc="320" dirty="0">
                <a:solidFill>
                  <a:schemeClr val="tx1"/>
                </a:solidFill>
              </a:rPr>
              <a:t>  </a:t>
            </a:r>
            <a:r>
              <a:rPr sz="2400" b="0" spc="-7" dirty="0">
                <a:solidFill>
                  <a:schemeClr val="tx1"/>
                </a:solidFill>
              </a:rPr>
              <a:t>escrita </a:t>
            </a:r>
            <a:r>
              <a:rPr sz="2400" b="0" dirty="0">
                <a:solidFill>
                  <a:schemeClr val="tx1"/>
                </a:solidFill>
              </a:rPr>
              <a:t>corretamente,</a:t>
            </a:r>
            <a:r>
              <a:rPr sz="2400" b="0" spc="-4" dirty="0">
                <a:solidFill>
                  <a:schemeClr val="tx1"/>
                </a:solidFill>
              </a:rPr>
              <a:t>  </a:t>
            </a:r>
            <a:r>
              <a:rPr sz="2400" b="0" spc="-7" dirty="0">
                <a:solidFill>
                  <a:schemeClr val="tx1"/>
                </a:solidFill>
              </a:rPr>
              <a:t>converte-</a:t>
            </a:r>
            <a:r>
              <a:rPr sz="2400" b="0" dirty="0">
                <a:solidFill>
                  <a:schemeClr val="tx1"/>
                </a:solidFill>
              </a:rPr>
              <a:t>a</a:t>
            </a:r>
            <a:r>
              <a:rPr sz="2400" b="0" spc="7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em</a:t>
            </a:r>
            <a:r>
              <a:rPr sz="2400" b="0" spc="4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linguagem</a:t>
            </a:r>
            <a:r>
              <a:rPr sz="2400" b="0" spc="4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de</a:t>
            </a:r>
            <a:r>
              <a:rPr sz="2400" b="0" spc="7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máquina</a:t>
            </a:r>
            <a:r>
              <a:rPr sz="2400" b="0" spc="7" dirty="0">
                <a:solidFill>
                  <a:schemeClr val="tx1"/>
                </a:solidFill>
              </a:rPr>
              <a:t>  </a:t>
            </a:r>
            <a:r>
              <a:rPr sz="2400" b="0" spc="-34" dirty="0">
                <a:solidFill>
                  <a:schemeClr val="tx1"/>
                </a:solidFill>
              </a:rPr>
              <a:t>e </a:t>
            </a:r>
            <a:r>
              <a:rPr sz="2400" b="0" dirty="0">
                <a:solidFill>
                  <a:schemeClr val="tx1"/>
                </a:solidFill>
              </a:rPr>
              <a:t>então</a:t>
            </a:r>
            <a:r>
              <a:rPr sz="2400" b="0" spc="-34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ordena</a:t>
            </a:r>
            <a:r>
              <a:rPr sz="2400" b="0" spc="-27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ao</a:t>
            </a:r>
            <a:r>
              <a:rPr sz="2400" b="0" spc="-31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computador</a:t>
            </a:r>
            <a:r>
              <a:rPr sz="2400" b="0" spc="-24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que</a:t>
            </a:r>
            <a:r>
              <a:rPr sz="2400" b="0" spc="-24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execute</a:t>
            </a:r>
            <a:r>
              <a:rPr sz="2400" b="0" spc="-34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esta</a:t>
            </a:r>
            <a:r>
              <a:rPr sz="2400" b="0" spc="-24" dirty="0">
                <a:solidFill>
                  <a:schemeClr val="tx1"/>
                </a:solidFill>
              </a:rPr>
              <a:t> </a:t>
            </a:r>
            <a:r>
              <a:rPr sz="2400" b="0" spc="-7" dirty="0" err="1">
                <a:solidFill>
                  <a:schemeClr val="tx1"/>
                </a:solidFill>
              </a:rPr>
              <a:t>instrução</a:t>
            </a:r>
            <a:r>
              <a:rPr sz="2400" b="0" spc="-7" dirty="0">
                <a:solidFill>
                  <a:schemeClr val="tx1"/>
                </a:solidFill>
              </a:rPr>
              <a:t>.</a:t>
            </a:r>
            <a:endParaRPr lang="pt-BR" sz="2400" b="0" spc="-7" dirty="0">
              <a:solidFill>
                <a:schemeClr val="tx1"/>
              </a:solidFill>
            </a:endParaRPr>
          </a:p>
          <a:p>
            <a:pPr marL="0" marR="4322" indent="0" algn="just">
              <a:lnSpc>
                <a:spcPts val="2001"/>
              </a:lnSpc>
              <a:spcBef>
                <a:spcPts val="276"/>
              </a:spcBef>
              <a:buNone/>
            </a:pPr>
            <a:endParaRPr sz="2400" b="0" spc="-7" dirty="0">
              <a:solidFill>
                <a:schemeClr val="tx1"/>
              </a:solidFill>
            </a:endParaRPr>
          </a:p>
          <a:p>
            <a:pPr marL="0" marR="5187" indent="0">
              <a:lnSpc>
                <a:spcPts val="2001"/>
              </a:lnSpc>
              <a:spcBef>
                <a:spcPts val="803"/>
              </a:spcBef>
              <a:buNone/>
            </a:pPr>
            <a:r>
              <a:rPr sz="2400" b="0" dirty="0">
                <a:solidFill>
                  <a:schemeClr val="tx1"/>
                </a:solidFill>
              </a:rPr>
              <a:t>Depois</a:t>
            </a:r>
            <a:r>
              <a:rPr sz="2400" b="0" spc="378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repete</a:t>
            </a:r>
            <a:r>
              <a:rPr sz="2400" b="0" spc="378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o</a:t>
            </a:r>
            <a:r>
              <a:rPr sz="2400" b="0" spc="378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processo</a:t>
            </a:r>
            <a:r>
              <a:rPr sz="2400" b="0" spc="374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para</a:t>
            </a:r>
            <a:r>
              <a:rPr sz="2400" b="0" spc="381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a</a:t>
            </a:r>
            <a:r>
              <a:rPr sz="2400" b="0" spc="378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segunda</a:t>
            </a:r>
            <a:r>
              <a:rPr sz="2400" b="0" spc="381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instrução,</a:t>
            </a:r>
            <a:r>
              <a:rPr sz="2400" b="0" spc="371" dirty="0">
                <a:solidFill>
                  <a:schemeClr val="tx1"/>
                </a:solidFill>
              </a:rPr>
              <a:t> </a:t>
            </a:r>
            <a:r>
              <a:rPr sz="2400" b="0" spc="-34" dirty="0">
                <a:solidFill>
                  <a:schemeClr val="tx1"/>
                </a:solidFill>
              </a:rPr>
              <a:t>e </a:t>
            </a:r>
            <a:r>
              <a:rPr sz="2400" b="0" dirty="0">
                <a:solidFill>
                  <a:schemeClr val="tx1"/>
                </a:solidFill>
              </a:rPr>
              <a:t>assim</a:t>
            </a:r>
            <a:r>
              <a:rPr sz="2400" b="0" spc="388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sucessivamente,</a:t>
            </a:r>
            <a:r>
              <a:rPr sz="2400" b="0" spc="388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até</a:t>
            </a:r>
            <a:r>
              <a:rPr sz="2400" b="0" spc="388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a</a:t>
            </a:r>
            <a:r>
              <a:rPr sz="2400" b="0" spc="392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última</a:t>
            </a:r>
            <a:r>
              <a:rPr sz="2400" b="0" spc="388" dirty="0">
                <a:solidFill>
                  <a:schemeClr val="tx1"/>
                </a:solidFill>
              </a:rPr>
              <a:t>  </a:t>
            </a:r>
            <a:r>
              <a:rPr sz="2400" b="0" dirty="0">
                <a:solidFill>
                  <a:schemeClr val="tx1"/>
                </a:solidFill>
              </a:rPr>
              <a:t>instrução</a:t>
            </a:r>
            <a:r>
              <a:rPr sz="2400" b="0" spc="392" dirty="0">
                <a:solidFill>
                  <a:schemeClr val="tx1"/>
                </a:solidFill>
              </a:rPr>
              <a:t>  </a:t>
            </a:r>
            <a:r>
              <a:rPr sz="2400" b="0" spc="-17" dirty="0">
                <a:solidFill>
                  <a:schemeClr val="tx1"/>
                </a:solidFill>
              </a:rPr>
              <a:t>do </a:t>
            </a:r>
            <a:r>
              <a:rPr sz="2400" b="0" dirty="0">
                <a:solidFill>
                  <a:schemeClr val="tx1"/>
                </a:solidFill>
              </a:rPr>
              <a:t>programa</a:t>
            </a:r>
            <a:r>
              <a:rPr sz="2400" b="0" spc="-27" dirty="0">
                <a:solidFill>
                  <a:schemeClr val="tx1"/>
                </a:solidFill>
              </a:rPr>
              <a:t> </a:t>
            </a:r>
            <a:r>
              <a:rPr sz="2400" b="0" spc="-7" dirty="0" err="1">
                <a:solidFill>
                  <a:schemeClr val="tx1"/>
                </a:solidFill>
              </a:rPr>
              <a:t>fonte</a:t>
            </a:r>
            <a:r>
              <a:rPr sz="2400" b="0" spc="-7" dirty="0">
                <a:solidFill>
                  <a:schemeClr val="tx1"/>
                </a:solidFill>
              </a:rPr>
              <a:t>.</a:t>
            </a:r>
            <a:endParaRPr lang="pt-BR" sz="2400" b="0" spc="-7" dirty="0">
              <a:solidFill>
                <a:schemeClr val="tx1"/>
              </a:solidFill>
            </a:endParaRPr>
          </a:p>
          <a:p>
            <a:pPr marL="0" marR="5187" indent="0" algn="just">
              <a:lnSpc>
                <a:spcPts val="2001"/>
              </a:lnSpc>
              <a:spcBef>
                <a:spcPts val="803"/>
              </a:spcBef>
              <a:buNone/>
            </a:pPr>
            <a:endParaRPr sz="2400" b="0" spc="-7" dirty="0">
              <a:solidFill>
                <a:schemeClr val="tx1"/>
              </a:solidFill>
            </a:endParaRPr>
          </a:p>
          <a:p>
            <a:pPr marL="0" marR="3458" indent="0">
              <a:lnSpc>
                <a:spcPts val="2001"/>
              </a:lnSpc>
              <a:spcBef>
                <a:spcPts val="797"/>
              </a:spcBef>
              <a:buNone/>
            </a:pPr>
            <a:r>
              <a:rPr sz="2400" b="0" dirty="0">
                <a:solidFill>
                  <a:schemeClr val="tx1"/>
                </a:solidFill>
              </a:rPr>
              <a:t>Quando</a:t>
            </a:r>
            <a:r>
              <a:rPr sz="2400" b="0" spc="283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a</a:t>
            </a:r>
            <a:r>
              <a:rPr sz="2400" b="0" spc="272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segunda</a:t>
            </a:r>
            <a:r>
              <a:rPr sz="2400" b="0" spc="283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instrução</a:t>
            </a:r>
            <a:r>
              <a:rPr sz="2400" b="0" spc="278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é</a:t>
            </a:r>
            <a:r>
              <a:rPr sz="2400" b="0" spc="276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trabalhada,</a:t>
            </a:r>
            <a:r>
              <a:rPr sz="2400" b="0" spc="272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a</a:t>
            </a:r>
            <a:r>
              <a:rPr sz="2400" b="0" spc="283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primeira</a:t>
            </a:r>
            <a:r>
              <a:rPr sz="2400" b="0" spc="278" dirty="0">
                <a:solidFill>
                  <a:schemeClr val="tx1"/>
                </a:solidFill>
              </a:rPr>
              <a:t> </a:t>
            </a:r>
            <a:r>
              <a:rPr sz="2400" b="0" spc="-34" dirty="0">
                <a:solidFill>
                  <a:schemeClr val="tx1"/>
                </a:solidFill>
              </a:rPr>
              <a:t>é </a:t>
            </a:r>
            <a:r>
              <a:rPr sz="2400" b="0" dirty="0">
                <a:solidFill>
                  <a:schemeClr val="tx1"/>
                </a:solidFill>
              </a:rPr>
              <a:t>perdida, isto é, apenas</a:t>
            </a:r>
            <a:r>
              <a:rPr sz="2400" b="0" spc="-4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uma instrução</a:t>
            </a:r>
            <a:r>
              <a:rPr sz="2400" b="0" spc="-4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fica</a:t>
            </a:r>
            <a:r>
              <a:rPr sz="2400" b="0" spc="-4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na</a:t>
            </a:r>
            <a:r>
              <a:rPr sz="2400" b="0" spc="-7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</a:rPr>
              <a:t>memória</a:t>
            </a:r>
            <a:r>
              <a:rPr sz="2400" b="0" spc="-4" dirty="0">
                <a:solidFill>
                  <a:schemeClr val="tx1"/>
                </a:solidFill>
              </a:rPr>
              <a:t> </a:t>
            </a:r>
            <a:r>
              <a:rPr sz="2400" b="0" spc="-17" dirty="0">
                <a:solidFill>
                  <a:schemeClr val="tx1"/>
                </a:solidFill>
              </a:rPr>
              <a:t>em </a:t>
            </a:r>
            <a:r>
              <a:rPr sz="2400" b="0" dirty="0">
                <a:solidFill>
                  <a:schemeClr val="tx1"/>
                </a:solidFill>
              </a:rPr>
              <a:t>cada</a:t>
            </a:r>
            <a:r>
              <a:rPr sz="2400" b="0" spc="-20" dirty="0">
                <a:solidFill>
                  <a:schemeClr val="tx1"/>
                </a:solidFill>
              </a:rPr>
              <a:t> </a:t>
            </a:r>
            <a:r>
              <a:rPr sz="2400" b="0" spc="-7" dirty="0">
                <a:solidFill>
                  <a:schemeClr val="tx1"/>
                </a:solidFill>
              </a:rPr>
              <a:t>instante.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72804" y="836712"/>
            <a:ext cx="5203825" cy="688975"/>
          </a:xfrm>
          <a:prstGeom prst="rect">
            <a:avLst/>
          </a:prstGeom>
        </p:spPr>
        <p:txBody>
          <a:bodyPr spcFirstLastPara="1" vert="horz" wrap="square" lIns="0" tIns="182400" rIns="0" bIns="0" rtlCol="0" anchor="ctr" anchorCtr="0">
            <a:spAutoFit/>
          </a:bodyPr>
          <a:lstStyle/>
          <a:p>
            <a:pPr marL="1755345">
              <a:lnSpc>
                <a:spcPct val="100000"/>
              </a:lnSpc>
              <a:spcBef>
                <a:spcPts val="68"/>
              </a:spcBef>
            </a:pPr>
            <a:r>
              <a:rPr spc="-7" dirty="0"/>
              <a:t>Interpretador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485" y="2135694"/>
            <a:ext cx="90768" cy="907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477" y="3796371"/>
            <a:ext cx="90768" cy="907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536" y="5013176"/>
            <a:ext cx="90768" cy="907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95536" y="554831"/>
            <a:ext cx="7156450" cy="688975"/>
          </a:xfrm>
          <a:prstGeom prst="rect">
            <a:avLst/>
          </a:prstGeom>
        </p:spPr>
        <p:txBody>
          <a:bodyPr spcFirstLastPara="1" vert="horz" wrap="square" lIns="0" tIns="182400" rIns="0" bIns="0" rtlCol="0" anchor="ctr" anchorCtr="0">
            <a:spAutoFit/>
          </a:bodyPr>
          <a:lstStyle/>
          <a:p>
            <a:pPr marL="1755345">
              <a:lnSpc>
                <a:spcPct val="100000"/>
              </a:lnSpc>
              <a:spcBef>
                <a:spcPts val="68"/>
              </a:spcBef>
            </a:pPr>
            <a:r>
              <a:rPr spc="-7" dirty="0"/>
              <a:t>Interpretador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6785" y="2171219"/>
            <a:ext cx="90768" cy="907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03648" y="1605183"/>
            <a:ext cx="6448762" cy="1575982"/>
          </a:xfrm>
          <a:prstGeom prst="rect">
            <a:avLst/>
          </a:prstGeom>
        </p:spPr>
        <p:txBody>
          <a:bodyPr vert="horz" wrap="square" lIns="0" tIns="36740" rIns="0" bIns="0" rtlCol="0">
            <a:spAutoFit/>
          </a:bodyPr>
          <a:lstStyle/>
          <a:p>
            <a:pPr marL="8645" marR="3458" algn="just" defTabSz="685800" eaLnBrk="1" fontAlgn="auto" hangingPunct="1">
              <a:lnSpc>
                <a:spcPts val="2444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</a:pP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Se</a:t>
            </a:r>
            <a:r>
              <a:rPr sz="2178" kern="0" spc="92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este</a:t>
            </a:r>
            <a:r>
              <a:rPr sz="2178" kern="0" spc="99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programa</a:t>
            </a:r>
            <a:r>
              <a:rPr sz="2178" kern="0" spc="92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fonte</a:t>
            </a:r>
            <a:r>
              <a:rPr sz="2178" kern="0" spc="95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for</a:t>
            </a:r>
            <a:r>
              <a:rPr sz="2178" kern="0" spc="95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executado</a:t>
            </a:r>
            <a:r>
              <a:rPr sz="2178" kern="0" spc="95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spc="-17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uma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segunda</a:t>
            </a:r>
            <a:r>
              <a:rPr sz="2178" kern="0" spc="137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vez,</a:t>
            </a:r>
            <a:r>
              <a:rPr sz="2178" kern="0" spc="143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novamente</a:t>
            </a:r>
            <a:r>
              <a:rPr sz="2178" kern="0" spc="143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haverá</a:t>
            </a:r>
            <a:r>
              <a:rPr sz="2178" kern="0" spc="137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uma</a:t>
            </a:r>
            <a:r>
              <a:rPr sz="2178" kern="0" spc="143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spc="-14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nova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tradução,</a:t>
            </a:r>
            <a:r>
              <a:rPr sz="2178" kern="0" spc="306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comando</a:t>
            </a:r>
            <a:r>
              <a:rPr sz="2178" kern="0" spc="306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por</a:t>
            </a:r>
            <a:r>
              <a:rPr sz="2178" kern="0" spc="306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comando,</a:t>
            </a:r>
            <a:r>
              <a:rPr sz="2178" kern="0" spc="31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pois</a:t>
            </a:r>
            <a:r>
              <a:rPr sz="2178" kern="0" spc="306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spc="-17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os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comandos</a:t>
            </a:r>
            <a:r>
              <a:rPr sz="2178" kern="0" spc="259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em</a:t>
            </a:r>
            <a:r>
              <a:rPr sz="2178" kern="0" spc="262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linguagem</a:t>
            </a:r>
            <a:r>
              <a:rPr sz="2178" kern="0" spc="262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de</a:t>
            </a:r>
            <a:r>
              <a:rPr sz="2178" kern="0" spc="259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máquina</a:t>
            </a:r>
            <a:r>
              <a:rPr sz="2178" kern="0" spc="262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 </a:t>
            </a:r>
            <a:r>
              <a:rPr sz="2178" kern="0" spc="-17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não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ficam</a:t>
            </a:r>
            <a:r>
              <a:rPr sz="2178" kern="0" spc="-31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armazenados</a:t>
            </a:r>
            <a:r>
              <a:rPr sz="2178" kern="0" spc="-2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para</a:t>
            </a:r>
            <a:r>
              <a:rPr sz="2178" kern="0" spc="-24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futuras</a:t>
            </a:r>
            <a:r>
              <a:rPr sz="2178" kern="0" spc="-24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 </a:t>
            </a:r>
            <a:r>
              <a:rPr sz="2178" kern="0" spc="-7" dirty="0">
                <a:solidFill>
                  <a:srgbClr val="000000"/>
                </a:solidFill>
                <a:latin typeface="Arial MT"/>
                <a:cs typeface="Arial MT"/>
                <a:sym typeface="Arial"/>
              </a:rPr>
              <a:t>execuções.</a:t>
            </a:r>
            <a:endParaRPr sz="2178" kern="0" dirty="0">
              <a:solidFill>
                <a:srgbClr val="000000"/>
              </a:solidFill>
              <a:latin typeface="Arial MT"/>
              <a:cs typeface="Arial MT"/>
              <a:sym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07613" y="3675369"/>
            <a:ext cx="2643500" cy="1630360"/>
            <a:chOff x="539900" y="4140200"/>
            <a:chExt cx="3883660" cy="23952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1379" y="4140200"/>
              <a:ext cx="2178050" cy="12598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9900" y="5831189"/>
              <a:ext cx="2558608" cy="70369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59429" y="4913630"/>
              <a:ext cx="1363980" cy="156591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88252" y="3797258"/>
            <a:ext cx="1301003" cy="154391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72899" y="3675370"/>
            <a:ext cx="1524032" cy="12551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35243" y="968564"/>
            <a:ext cx="8424936" cy="523875"/>
          </a:xfrm>
          <a:prstGeom prst="rect">
            <a:avLst/>
          </a:prstGeom>
        </p:spPr>
        <p:txBody>
          <a:bodyPr spcFirstLastPara="1" vert="horz" wrap="square" lIns="0" tIns="48410" rIns="0" bIns="0" rtlCol="0" anchor="ctr" anchorCtr="0">
            <a:spAutoFit/>
          </a:bodyPr>
          <a:lstStyle/>
          <a:p>
            <a:pPr marL="1668896" marR="3458" indent="-1228439">
              <a:lnSpc>
                <a:spcPts val="3349"/>
              </a:lnSpc>
              <a:spcBef>
                <a:spcPts val="381"/>
              </a:spcBef>
              <a:tabLst>
                <a:tab pos="1986164" algn="l"/>
                <a:tab pos="3336063" algn="l"/>
              </a:tabLst>
            </a:pPr>
            <a:r>
              <a:rPr sz="2700" dirty="0" err="1"/>
              <a:t>Diferenças</a:t>
            </a:r>
            <a:r>
              <a:rPr sz="2700" spc="-129" dirty="0"/>
              <a:t> </a:t>
            </a:r>
            <a:r>
              <a:rPr sz="2700" spc="-7" dirty="0"/>
              <a:t>entre</a:t>
            </a:r>
            <a:r>
              <a:rPr lang="pt-BR" sz="2700" spc="-7" dirty="0"/>
              <a:t> </a:t>
            </a:r>
            <a:r>
              <a:rPr sz="2700" spc="-7" dirty="0" err="1"/>
              <a:t>Compiladores</a:t>
            </a:r>
            <a:r>
              <a:rPr sz="2700" spc="-7" dirty="0"/>
              <a:t> </a:t>
            </a:r>
            <a:r>
              <a:rPr sz="2700" spc="-34" dirty="0"/>
              <a:t>e</a:t>
            </a:r>
            <a:r>
              <a:rPr lang="pt-BR" sz="2700" spc="-34" dirty="0"/>
              <a:t> </a:t>
            </a:r>
            <a:r>
              <a:rPr sz="2700" spc="-7" dirty="0" err="1"/>
              <a:t>Interpretadores</a:t>
            </a:r>
            <a:endParaRPr sz="2700" spc="-7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616" y="2067677"/>
            <a:ext cx="6912768" cy="38217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683568" y="908720"/>
            <a:ext cx="7158038" cy="792163"/>
          </a:xfrm>
          <a:prstGeom prst="rect">
            <a:avLst/>
          </a:prstGeom>
        </p:spPr>
        <p:txBody>
          <a:bodyPr spcFirstLastPara="1" vert="horz" wrap="square" lIns="0" tIns="48409" rIns="0" bIns="0" rtlCol="0" anchor="ctr" anchorCtr="0">
            <a:spAutoFit/>
          </a:bodyPr>
          <a:lstStyle/>
          <a:p>
            <a:pPr marR="97688" algn="ctr">
              <a:lnSpc>
                <a:spcPts val="3516"/>
              </a:lnSpc>
              <a:spcBef>
                <a:spcPts val="68"/>
              </a:spcBef>
            </a:pPr>
            <a:r>
              <a:rPr spc="-7" dirty="0"/>
              <a:t>Filtro</a:t>
            </a:r>
          </a:p>
          <a:p>
            <a:pPr marL="1402201">
              <a:lnSpc>
                <a:spcPts val="2209"/>
              </a:lnSpc>
            </a:pPr>
            <a:r>
              <a:rPr lang="pt-BR" sz="1906" dirty="0"/>
              <a:t>                    </a:t>
            </a:r>
            <a:r>
              <a:rPr sz="1906" dirty="0"/>
              <a:t>(Conversor</a:t>
            </a:r>
            <a:r>
              <a:rPr sz="1906" spc="-55" dirty="0"/>
              <a:t> </a:t>
            </a:r>
            <a:r>
              <a:rPr sz="1906" dirty="0"/>
              <a:t>de</a:t>
            </a:r>
            <a:r>
              <a:rPr sz="1906" spc="-51" dirty="0"/>
              <a:t> </a:t>
            </a:r>
            <a:r>
              <a:rPr sz="1906" spc="-7" dirty="0"/>
              <a:t>Linguagem)</a:t>
            </a:r>
            <a:endParaRPr sz="1906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5656" y="2132856"/>
            <a:ext cx="5976664" cy="31683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67544" y="914997"/>
            <a:ext cx="7156450" cy="658812"/>
          </a:xfrm>
          <a:prstGeom prst="rect">
            <a:avLst/>
          </a:prstGeom>
        </p:spPr>
        <p:txBody>
          <a:bodyPr spcFirstLastPara="1" vert="horz" wrap="square" lIns="0" tIns="182400" rIns="0" bIns="0" rtlCol="0" anchor="ctr" anchorCtr="0">
            <a:spAutoFit/>
          </a:bodyPr>
          <a:lstStyle/>
          <a:p>
            <a:pPr marL="1437645">
              <a:lnSpc>
                <a:spcPct val="100000"/>
              </a:lnSpc>
              <a:spcBef>
                <a:spcPts val="68"/>
              </a:spcBef>
            </a:pPr>
            <a:r>
              <a:rPr spc="-17" dirty="0"/>
              <a:t>Pré-</a:t>
            </a:r>
            <a:r>
              <a:rPr spc="-7" dirty="0"/>
              <a:t>processador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600" y="1917895"/>
            <a:ext cx="6652393" cy="36957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55576" y="801329"/>
            <a:ext cx="5318000" cy="874114"/>
          </a:xfrm>
          <a:prstGeom prst="rect">
            <a:avLst/>
          </a:prstGeom>
        </p:spPr>
        <p:txBody>
          <a:bodyPr spcFirstLastPara="1" vert="horz" wrap="square" lIns="0" tIns="182400" rIns="0" bIns="0" rtlCol="0" anchor="ctr" anchorCtr="0">
            <a:spAutoFit/>
          </a:bodyPr>
          <a:lstStyle/>
          <a:p>
            <a:pPr marL="1922624">
              <a:lnSpc>
                <a:spcPct val="100000"/>
              </a:lnSpc>
              <a:spcBef>
                <a:spcPts val="68"/>
              </a:spcBef>
            </a:pPr>
            <a:r>
              <a:rPr spc="-7" dirty="0"/>
              <a:t>Bibliotecas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608" y="1960293"/>
            <a:ext cx="7200800" cy="36593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 descr="Large confetti"/>
          <p:cNvSpPr>
            <a:spLocks noGrp="1" noChangeArrowheads="1"/>
          </p:cNvSpPr>
          <p:nvPr>
            <p:ph type="title" idx="4294967295"/>
          </p:nvPr>
        </p:nvSpPr>
        <p:spPr>
          <a:xfrm>
            <a:off x="323528" y="474008"/>
            <a:ext cx="8229600" cy="1143000"/>
          </a:xfrm>
        </p:spPr>
        <p:txBody>
          <a:bodyPr anchor="ctr"/>
          <a:lstStyle/>
          <a:p>
            <a:pPr eaLnBrk="1" hangingPunct="1"/>
            <a:r>
              <a:rPr lang="en-US" altLang="pt-BR" sz="36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Compilação</a:t>
            </a:r>
            <a:r>
              <a:rPr lang="en-US" altLang="pt-BR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 </a:t>
            </a:r>
            <a:r>
              <a:rPr lang="en-US" altLang="pt-BR" sz="36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Análise</a:t>
            </a:r>
            <a:r>
              <a:rPr lang="en-US" altLang="pt-BR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e </a:t>
            </a:r>
            <a:r>
              <a:rPr lang="en-US" altLang="pt-BR" sz="36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Síntese</a:t>
            </a:r>
            <a:endParaRPr lang="pt-BR" altLang="pt-BR" sz="3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85313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pt-BR" dirty="0" err="1"/>
              <a:t>Análise</a:t>
            </a:r>
            <a:r>
              <a:rPr lang="en-US" altLang="pt-BR" dirty="0"/>
              <a:t>: </a:t>
            </a:r>
            <a:r>
              <a:rPr lang="en-US" altLang="pt-BR" dirty="0" err="1"/>
              <a:t>quebra</a:t>
            </a:r>
            <a:r>
              <a:rPr lang="en-US" altLang="pt-BR" dirty="0"/>
              <a:t> o </a:t>
            </a:r>
            <a:r>
              <a:rPr lang="en-US" altLang="pt-BR" dirty="0" err="1"/>
              <a:t>código</a:t>
            </a:r>
            <a:r>
              <a:rPr lang="en-US" altLang="pt-BR" dirty="0"/>
              <a:t> </a:t>
            </a:r>
            <a:r>
              <a:rPr lang="en-US" altLang="pt-BR" dirty="0" err="1"/>
              <a:t>fonte</a:t>
            </a:r>
            <a:r>
              <a:rPr lang="en-US" altLang="pt-BR" dirty="0"/>
              <a:t> </a:t>
            </a:r>
            <a:r>
              <a:rPr lang="en-US" altLang="pt-BR" dirty="0" err="1"/>
              <a:t>em</a:t>
            </a:r>
            <a:r>
              <a:rPr lang="en-US" altLang="pt-BR" dirty="0"/>
              <a:t> </a:t>
            </a:r>
            <a:r>
              <a:rPr lang="en-US" altLang="pt-BR" dirty="0" err="1"/>
              <a:t>suas</a:t>
            </a:r>
            <a:r>
              <a:rPr lang="en-US" altLang="pt-BR" dirty="0"/>
              <a:t> </a:t>
            </a:r>
            <a:r>
              <a:rPr lang="en-US" altLang="pt-BR" dirty="0" err="1"/>
              <a:t>partes</a:t>
            </a:r>
            <a:r>
              <a:rPr lang="en-US" altLang="pt-BR" dirty="0"/>
              <a:t>, e </a:t>
            </a:r>
            <a:r>
              <a:rPr lang="en-US" altLang="pt-BR" dirty="0" err="1"/>
              <a:t>cria</a:t>
            </a:r>
            <a:r>
              <a:rPr lang="en-US" altLang="pt-BR" dirty="0"/>
              <a:t> </a:t>
            </a:r>
            <a:r>
              <a:rPr lang="en-US" altLang="pt-BR" dirty="0" err="1"/>
              <a:t>uma</a:t>
            </a:r>
            <a:r>
              <a:rPr lang="en-US" altLang="pt-BR" dirty="0"/>
              <a:t> </a:t>
            </a:r>
            <a:r>
              <a:rPr lang="en-US" altLang="pt-BR" dirty="0" err="1"/>
              <a:t>representação</a:t>
            </a:r>
            <a:r>
              <a:rPr lang="en-US" altLang="pt-BR" dirty="0"/>
              <a:t> </a:t>
            </a:r>
            <a:r>
              <a:rPr lang="en-US" altLang="pt-BR" dirty="0" err="1"/>
              <a:t>intermediária</a:t>
            </a:r>
            <a:r>
              <a:rPr lang="en-US" altLang="pt-BR" dirty="0"/>
              <a:t> do </a:t>
            </a:r>
            <a:r>
              <a:rPr lang="en-US" altLang="pt-BR" dirty="0" err="1"/>
              <a:t>programa</a:t>
            </a:r>
            <a:r>
              <a:rPr lang="en-US" altLang="pt-BR" dirty="0"/>
              <a:t>.</a:t>
            </a:r>
            <a:br>
              <a:rPr lang="en-US" altLang="pt-BR" dirty="0"/>
            </a:br>
            <a:r>
              <a:rPr lang="en-US" altLang="pt-BR" dirty="0" err="1"/>
              <a:t>Verifica</a:t>
            </a:r>
            <a:r>
              <a:rPr lang="en-US" altLang="pt-BR" dirty="0"/>
              <a:t> </a:t>
            </a:r>
            <a:r>
              <a:rPr lang="en-US" altLang="pt-BR" dirty="0" err="1"/>
              <a:t>erros</a:t>
            </a:r>
            <a:r>
              <a:rPr lang="en-US" altLang="pt-BR" dirty="0"/>
              <a:t> e </a:t>
            </a:r>
            <a:r>
              <a:rPr lang="en-US" altLang="pt-BR" dirty="0" err="1"/>
              <a:t>constrói</a:t>
            </a:r>
            <a:r>
              <a:rPr lang="en-US" altLang="pt-BR" dirty="0"/>
              <a:t> </a:t>
            </a:r>
            <a:r>
              <a:rPr lang="en-US" altLang="pt-BR" dirty="0" err="1"/>
              <a:t>tabela</a:t>
            </a:r>
            <a:r>
              <a:rPr lang="en-US" altLang="pt-BR" dirty="0"/>
              <a:t> de </a:t>
            </a:r>
            <a:r>
              <a:rPr lang="en-US" altLang="pt-BR" dirty="0" err="1"/>
              <a:t>símbolos</a:t>
            </a:r>
            <a:r>
              <a:rPr lang="en-US" altLang="pt-BR" dirty="0"/>
              <a:t>.</a:t>
            </a:r>
          </a:p>
          <a:p>
            <a:pPr eaLnBrk="1" hangingPunct="1"/>
            <a:endParaRPr lang="en-US" altLang="pt-BR" dirty="0"/>
          </a:p>
          <a:p>
            <a:pPr eaLnBrk="1" hangingPunct="1"/>
            <a:r>
              <a:rPr lang="en-US" altLang="pt-BR" dirty="0" err="1"/>
              <a:t>Síntese</a:t>
            </a:r>
            <a:r>
              <a:rPr lang="en-US" altLang="pt-BR" dirty="0"/>
              <a:t>: </a:t>
            </a:r>
            <a:r>
              <a:rPr lang="en-US" altLang="pt-BR" dirty="0" err="1"/>
              <a:t>Constroi</a:t>
            </a:r>
            <a:r>
              <a:rPr lang="en-US" altLang="pt-BR" dirty="0"/>
              <a:t> o </a:t>
            </a:r>
            <a:r>
              <a:rPr lang="en-US" altLang="pt-BR" dirty="0" err="1"/>
              <a:t>programa-destino</a:t>
            </a:r>
            <a:r>
              <a:rPr lang="en-US" altLang="pt-BR" dirty="0"/>
              <a:t> a </a:t>
            </a:r>
            <a:r>
              <a:rPr lang="en-US" altLang="pt-BR" dirty="0" err="1"/>
              <a:t>partir</a:t>
            </a:r>
            <a:r>
              <a:rPr lang="en-US" altLang="pt-BR" dirty="0"/>
              <a:t> da </a:t>
            </a:r>
            <a:r>
              <a:rPr lang="en-US" altLang="pt-BR" dirty="0" err="1"/>
              <a:t>representação</a:t>
            </a:r>
            <a:r>
              <a:rPr lang="en-US" altLang="pt-BR" dirty="0"/>
              <a:t> </a:t>
            </a:r>
            <a:r>
              <a:rPr lang="en-US" altLang="pt-BR" dirty="0" err="1"/>
              <a:t>intermediária</a:t>
            </a:r>
            <a:r>
              <a:rPr lang="en-US" altLang="pt-BR" dirty="0"/>
              <a:t>.</a:t>
            </a:r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984244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627784" y="548680"/>
            <a:ext cx="3562194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pPr algn="ctr">
              <a:defRPr/>
            </a:pPr>
            <a:r>
              <a:rPr kumimoji="1" lang="pt-PT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Fases de um compilador</a:t>
            </a:r>
            <a:endParaRPr kumimoji="1" lang="en-GB" sz="2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pitchFamily="66" charset="0"/>
            </a:endParaRPr>
          </a:p>
        </p:txBody>
      </p:sp>
      <p:pic>
        <p:nvPicPr>
          <p:cNvPr id="3" name="Picture 4" descr="IMAGE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196752"/>
            <a:ext cx="4292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813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 descr="Large confetti"/>
          <p:cNvSpPr>
            <a:spLocks noGrp="1" noChangeArrowheads="1"/>
          </p:cNvSpPr>
          <p:nvPr>
            <p:ph type="title" idx="4294967295"/>
          </p:nvPr>
        </p:nvSpPr>
        <p:spPr>
          <a:xfrm>
            <a:off x="1238672" y="467718"/>
            <a:ext cx="5904656" cy="554632"/>
          </a:xfrm>
        </p:spPr>
        <p:txBody>
          <a:bodyPr anchor="ctr"/>
          <a:lstStyle/>
          <a:p>
            <a:pPr eaLnBrk="1" hangingPunct="1"/>
            <a:r>
              <a:rPr lang="en-US" altLang="pt-BR" sz="36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Fases</a:t>
            </a:r>
            <a:r>
              <a:rPr lang="en-US" altLang="pt-BR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de um </a:t>
            </a:r>
            <a:r>
              <a:rPr lang="en-US" altLang="pt-BR" sz="36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compilador</a:t>
            </a:r>
            <a:endParaRPr lang="pt-BR" altLang="pt-BR" sz="3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533400" y="2133600"/>
            <a:ext cx="3657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Analisador léxico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539750" y="1484313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stream de caracteres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4953000" y="6172200"/>
            <a:ext cx="365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Código de máquina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533400" y="3733800"/>
            <a:ext cx="3657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Analisador sintático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533400" y="5410200"/>
            <a:ext cx="3657600" cy="4619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Analisador semântico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4953000" y="2133600"/>
            <a:ext cx="3657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 dirty="0">
                <a:ea typeface="ＭＳ Ｐゴシック" panose="020B0600070205080204" pitchFamily="34" charset="-128"/>
              </a:rPr>
              <a:t>Ger. de </a:t>
            </a:r>
            <a:r>
              <a:rPr lang="en-US" altLang="pt-BR" sz="2400" dirty="0" err="1">
                <a:ea typeface="ＭＳ Ｐゴシック" panose="020B0600070205080204" pitchFamily="34" charset="-128"/>
              </a:rPr>
              <a:t>código</a:t>
            </a:r>
            <a:r>
              <a:rPr lang="en-US" altLang="pt-BR" sz="2400" dirty="0">
                <a:ea typeface="ＭＳ Ｐゴシック" panose="020B0600070205080204" pitchFamily="34" charset="-128"/>
              </a:rPr>
              <a:t> </a:t>
            </a:r>
            <a:r>
              <a:rPr lang="en-US" altLang="pt-BR" sz="2400" dirty="0" err="1">
                <a:ea typeface="ＭＳ Ｐゴシック" panose="020B0600070205080204" pitchFamily="34" charset="-128"/>
              </a:rPr>
              <a:t>intermediário</a:t>
            </a:r>
            <a:endParaRPr lang="pt-BR" altLang="pt-BR" sz="2400" dirty="0">
              <a:ea typeface="ＭＳ Ｐゴシック" panose="020B0600070205080204" pitchFamily="34" charset="-128"/>
            </a:endParaRPr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4953000" y="3733800"/>
            <a:ext cx="3657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Otimizador de código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4953000" y="5410200"/>
            <a:ext cx="3657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Gerador de código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cxnSp>
        <p:nvCxnSpPr>
          <p:cNvPr id="14347" name="AutoShape 13"/>
          <p:cNvCxnSpPr>
            <a:cxnSpLocks noChangeShapeType="1"/>
            <a:stCxn id="14339" idx="2"/>
            <a:endCxn id="14354" idx="0"/>
          </p:cNvCxnSpPr>
          <p:nvPr/>
        </p:nvCxnSpPr>
        <p:spPr bwMode="auto">
          <a:xfrm rot="5400000">
            <a:off x="2209801" y="2819400"/>
            <a:ext cx="304800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8" name="AutoShape 14"/>
          <p:cNvCxnSpPr>
            <a:cxnSpLocks noChangeShapeType="1"/>
            <a:stCxn id="14342" idx="2"/>
            <a:endCxn id="14356" idx="0"/>
          </p:cNvCxnSpPr>
          <p:nvPr/>
        </p:nvCxnSpPr>
        <p:spPr bwMode="auto">
          <a:xfrm rot="5400000">
            <a:off x="2171701" y="4381500"/>
            <a:ext cx="381000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9" name="AutoShape 15"/>
          <p:cNvCxnSpPr>
            <a:cxnSpLocks noChangeShapeType="1"/>
            <a:stCxn id="14358" idx="2"/>
            <a:endCxn id="14344" idx="0"/>
          </p:cNvCxnSpPr>
          <p:nvPr/>
        </p:nvCxnSpPr>
        <p:spPr bwMode="auto">
          <a:xfrm>
            <a:off x="6761163" y="1941513"/>
            <a:ext cx="20637" cy="192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0" name="AutoShape 16"/>
          <p:cNvCxnSpPr>
            <a:cxnSpLocks noChangeShapeType="1"/>
            <a:stCxn id="14344" idx="2"/>
            <a:endCxn id="14359" idx="0"/>
          </p:cNvCxnSpPr>
          <p:nvPr/>
        </p:nvCxnSpPr>
        <p:spPr bwMode="auto">
          <a:xfrm rot="5400000">
            <a:off x="6629401" y="2819400"/>
            <a:ext cx="304800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1" name="AutoShape 17"/>
          <p:cNvCxnSpPr>
            <a:cxnSpLocks noChangeShapeType="1"/>
            <a:stCxn id="14345" idx="2"/>
            <a:endCxn id="14361" idx="0"/>
          </p:cNvCxnSpPr>
          <p:nvPr/>
        </p:nvCxnSpPr>
        <p:spPr bwMode="auto">
          <a:xfrm rot="5400000">
            <a:off x="6591301" y="4381500"/>
            <a:ext cx="381000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2" name="AutoShape 18"/>
          <p:cNvCxnSpPr>
            <a:cxnSpLocks noChangeShapeType="1"/>
            <a:stCxn id="14346" idx="2"/>
            <a:endCxn id="14341" idx="0"/>
          </p:cNvCxnSpPr>
          <p:nvPr/>
        </p:nvCxnSpPr>
        <p:spPr bwMode="auto">
          <a:xfrm rot="5400000">
            <a:off x="6629401" y="6019800"/>
            <a:ext cx="304800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3" name="AutoShape 13"/>
          <p:cNvCxnSpPr>
            <a:cxnSpLocks noChangeShapeType="1"/>
            <a:stCxn id="14340" idx="2"/>
            <a:endCxn id="14339" idx="0"/>
          </p:cNvCxnSpPr>
          <p:nvPr/>
        </p:nvCxnSpPr>
        <p:spPr bwMode="auto">
          <a:xfrm flipH="1">
            <a:off x="2362200" y="1941513"/>
            <a:ext cx="6350" cy="192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4" name="Text Box 4"/>
          <p:cNvSpPr txBox="1">
            <a:spLocks noChangeArrowheads="1"/>
          </p:cNvSpPr>
          <p:nvPr/>
        </p:nvSpPr>
        <p:spPr bwMode="auto">
          <a:xfrm>
            <a:off x="533400" y="2971800"/>
            <a:ext cx="365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stream de tokens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cxnSp>
        <p:nvCxnSpPr>
          <p:cNvPr id="14355" name="AutoShape 13"/>
          <p:cNvCxnSpPr>
            <a:cxnSpLocks noChangeShapeType="1"/>
            <a:stCxn id="14354" idx="2"/>
            <a:endCxn id="14342" idx="0"/>
          </p:cNvCxnSpPr>
          <p:nvPr/>
        </p:nvCxnSpPr>
        <p:spPr bwMode="auto">
          <a:xfrm rot="5400000">
            <a:off x="2212975" y="3582988"/>
            <a:ext cx="300037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6" name="Text Box 4"/>
          <p:cNvSpPr txBox="1">
            <a:spLocks noChangeArrowheads="1"/>
          </p:cNvSpPr>
          <p:nvPr/>
        </p:nvSpPr>
        <p:spPr bwMode="auto">
          <a:xfrm>
            <a:off x="533400" y="4572000"/>
            <a:ext cx="365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árvore sintática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cxnSp>
        <p:nvCxnSpPr>
          <p:cNvPr id="14357" name="AutoShape 14"/>
          <p:cNvCxnSpPr>
            <a:cxnSpLocks noChangeShapeType="1"/>
            <a:stCxn id="14356" idx="2"/>
            <a:endCxn id="14343" idx="0"/>
          </p:cNvCxnSpPr>
          <p:nvPr/>
        </p:nvCxnSpPr>
        <p:spPr bwMode="auto">
          <a:xfrm rot="5400000">
            <a:off x="2174875" y="5221288"/>
            <a:ext cx="376237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8" name="Text Box 4"/>
          <p:cNvSpPr txBox="1">
            <a:spLocks noChangeArrowheads="1"/>
          </p:cNvSpPr>
          <p:nvPr/>
        </p:nvSpPr>
        <p:spPr bwMode="auto">
          <a:xfrm>
            <a:off x="4932363" y="1484313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árvore sintática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sp>
        <p:nvSpPr>
          <p:cNvPr id="14359" name="Text Box 4"/>
          <p:cNvSpPr txBox="1">
            <a:spLocks noChangeArrowheads="1"/>
          </p:cNvSpPr>
          <p:nvPr/>
        </p:nvSpPr>
        <p:spPr bwMode="auto">
          <a:xfrm>
            <a:off x="4953000" y="2971800"/>
            <a:ext cx="365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representação intermediária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cxnSp>
        <p:nvCxnSpPr>
          <p:cNvPr id="14360" name="AutoShape 16"/>
          <p:cNvCxnSpPr>
            <a:cxnSpLocks noChangeShapeType="1"/>
            <a:stCxn id="14359" idx="2"/>
            <a:endCxn id="14345" idx="0"/>
          </p:cNvCxnSpPr>
          <p:nvPr/>
        </p:nvCxnSpPr>
        <p:spPr bwMode="auto">
          <a:xfrm rot="5400000">
            <a:off x="6632575" y="3582988"/>
            <a:ext cx="300037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61" name="Text Box 4"/>
          <p:cNvSpPr txBox="1">
            <a:spLocks noChangeArrowheads="1"/>
          </p:cNvSpPr>
          <p:nvPr/>
        </p:nvSpPr>
        <p:spPr bwMode="auto">
          <a:xfrm>
            <a:off x="4953000" y="4572000"/>
            <a:ext cx="3657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pt-BR" sz="2400">
                <a:ea typeface="ＭＳ Ｐゴシック" panose="020B0600070205080204" pitchFamily="34" charset="-128"/>
              </a:rPr>
              <a:t>representação intermediária</a:t>
            </a:r>
            <a:endParaRPr lang="pt-BR" altLang="pt-BR" sz="2400">
              <a:ea typeface="ＭＳ Ｐゴシック" panose="020B0600070205080204" pitchFamily="34" charset="-128"/>
            </a:endParaRPr>
          </a:p>
        </p:txBody>
      </p:sp>
      <p:cxnSp>
        <p:nvCxnSpPr>
          <p:cNvPr id="14362" name="AutoShape 17"/>
          <p:cNvCxnSpPr>
            <a:cxnSpLocks noChangeShapeType="1"/>
            <a:stCxn id="14361" idx="2"/>
            <a:endCxn id="14346" idx="0"/>
          </p:cNvCxnSpPr>
          <p:nvPr/>
        </p:nvCxnSpPr>
        <p:spPr bwMode="auto">
          <a:xfrm rot="5400000">
            <a:off x="6594475" y="5221288"/>
            <a:ext cx="376237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63" name="Elbow Connector 242"/>
          <p:cNvCxnSpPr>
            <a:cxnSpLocks noChangeShapeType="1"/>
            <a:stCxn id="14343" idx="2"/>
            <a:endCxn id="14358" idx="0"/>
          </p:cNvCxnSpPr>
          <p:nvPr/>
        </p:nvCxnSpPr>
        <p:spPr bwMode="auto">
          <a:xfrm rot="5400000" flipH="1" flipV="1">
            <a:off x="2367757" y="1478756"/>
            <a:ext cx="4387850" cy="4398963"/>
          </a:xfrm>
          <a:prstGeom prst="bentConnector5">
            <a:avLst>
              <a:gd name="adj1" fmla="val -5176"/>
              <a:gd name="adj2" fmla="val 50019"/>
              <a:gd name="adj3" fmla="val 105208"/>
            </a:avLst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127687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Large confetti"/>
          <p:cNvSpPr txBox="1">
            <a:spLocks noChangeArrowheads="1"/>
          </p:cNvSpPr>
          <p:nvPr/>
        </p:nvSpPr>
        <p:spPr>
          <a:xfrm>
            <a:off x="251520" y="620688"/>
            <a:ext cx="8064896" cy="7200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pt-BR" altLang="pt-BR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Contexto do processo do  Compilador</a:t>
            </a:r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2416606" y="1773238"/>
            <a:ext cx="2447925" cy="4318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pt-BR" altLang="pt-BR" sz="1800" dirty="0" err="1">
                <a:latin typeface="Arial" panose="020B0604020202020204" pitchFamily="34" charset="0"/>
              </a:rPr>
              <a:t>Pré</a:t>
            </a:r>
            <a:r>
              <a:rPr lang="pt-BR" altLang="pt-BR" sz="1800" dirty="0">
                <a:latin typeface="Arial" panose="020B0604020202020204" pitchFamily="34" charset="0"/>
              </a:rPr>
              <a:t>-processador</a:t>
            </a: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2416606" y="2492375"/>
            <a:ext cx="2447925" cy="4318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pt-BR" altLang="pt-BR" sz="1800" dirty="0">
                <a:latin typeface="Arial" panose="020B0604020202020204" pitchFamily="34" charset="0"/>
              </a:rPr>
              <a:t>Analisador Léxico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2416606" y="3213100"/>
            <a:ext cx="2447925" cy="4318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Analisador Sintático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2416606" y="3933825"/>
            <a:ext cx="2447925" cy="4318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Analisador Semântico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2416606" y="4652963"/>
            <a:ext cx="2447925" cy="4318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Gerador de Código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(intermediário)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2416606" y="5373688"/>
            <a:ext cx="2447925" cy="4318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Otimizador</a:t>
            </a: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2416606" y="6092825"/>
            <a:ext cx="2447925" cy="4318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Gerador de Código</a:t>
            </a:r>
          </a:p>
        </p:txBody>
      </p:sp>
      <p:sp>
        <p:nvSpPr>
          <p:cNvPr id="10" name="AutoShape 10"/>
          <p:cNvSpPr>
            <a:spLocks noChangeArrowheads="1"/>
          </p:cNvSpPr>
          <p:nvPr/>
        </p:nvSpPr>
        <p:spPr bwMode="auto">
          <a:xfrm>
            <a:off x="3424668" y="2276475"/>
            <a:ext cx="287338" cy="1444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11" name="AutoShape 11"/>
          <p:cNvSpPr>
            <a:spLocks noChangeArrowheads="1"/>
          </p:cNvSpPr>
          <p:nvPr/>
        </p:nvSpPr>
        <p:spPr bwMode="auto">
          <a:xfrm>
            <a:off x="3424668" y="2997200"/>
            <a:ext cx="287338" cy="1444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12" name="AutoShape 12"/>
          <p:cNvSpPr>
            <a:spLocks noChangeArrowheads="1"/>
          </p:cNvSpPr>
          <p:nvPr/>
        </p:nvSpPr>
        <p:spPr bwMode="auto">
          <a:xfrm>
            <a:off x="3424668" y="3716338"/>
            <a:ext cx="287338" cy="144462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13" name="AutoShape 13"/>
          <p:cNvSpPr>
            <a:spLocks noChangeArrowheads="1"/>
          </p:cNvSpPr>
          <p:nvPr/>
        </p:nvSpPr>
        <p:spPr bwMode="auto">
          <a:xfrm>
            <a:off x="3424668" y="4437063"/>
            <a:ext cx="287338" cy="144462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3424668" y="5156200"/>
            <a:ext cx="287338" cy="1444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15" name="AutoShape 15"/>
          <p:cNvSpPr>
            <a:spLocks noChangeArrowheads="1"/>
          </p:cNvSpPr>
          <p:nvPr/>
        </p:nvSpPr>
        <p:spPr bwMode="auto">
          <a:xfrm>
            <a:off x="3424668" y="5876925"/>
            <a:ext cx="287338" cy="1444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16" name="AutoShape 16"/>
          <p:cNvSpPr>
            <a:spLocks/>
          </p:cNvSpPr>
          <p:nvPr/>
        </p:nvSpPr>
        <p:spPr bwMode="auto">
          <a:xfrm>
            <a:off x="5080431" y="1844675"/>
            <a:ext cx="431800" cy="3168650"/>
          </a:xfrm>
          <a:prstGeom prst="rightBrace">
            <a:avLst>
              <a:gd name="adj1" fmla="val 61152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17" name="AutoShape 17"/>
          <p:cNvSpPr>
            <a:spLocks/>
          </p:cNvSpPr>
          <p:nvPr/>
        </p:nvSpPr>
        <p:spPr bwMode="auto">
          <a:xfrm>
            <a:off x="5080431" y="5373688"/>
            <a:ext cx="215900" cy="1150937"/>
          </a:xfrm>
          <a:prstGeom prst="rightBrace">
            <a:avLst>
              <a:gd name="adj1" fmla="val 44424"/>
              <a:gd name="adj2" fmla="val 50000"/>
            </a:avLst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6017056" y="3136900"/>
            <a:ext cx="36718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pt-BR" altLang="pt-BR" i="1">
                <a:latin typeface="Arial" panose="020B0604020202020204" pitchFamily="34" charset="0"/>
              </a:rPr>
              <a:t>front-end</a:t>
            </a: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5944031" y="5586413"/>
            <a:ext cx="2879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pt-BR" altLang="pt-BR" i="1" dirty="0" err="1">
                <a:latin typeface="Arial" panose="020B0604020202020204" pitchFamily="34" charset="0"/>
              </a:rPr>
              <a:t>back-end</a:t>
            </a:r>
            <a:endParaRPr lang="pt-BR" altLang="pt-BR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443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99592" y="1340768"/>
            <a:ext cx="7340600" cy="3811588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buFontTx/>
              <a:buNone/>
            </a:pPr>
            <a:endParaRPr lang="en-US" altLang="pt-BR" dirty="0"/>
          </a:p>
          <a:p>
            <a:pPr algn="ctr" eaLnBrk="1" hangingPunct="1">
              <a:buFontTx/>
              <a:buNone/>
            </a:pPr>
            <a:r>
              <a:rPr lang="en-US" altLang="pt-BR" dirty="0" err="1"/>
              <a:t>Análise</a:t>
            </a:r>
            <a:r>
              <a:rPr lang="en-US" altLang="pt-BR" dirty="0"/>
              <a:t>: </a:t>
            </a:r>
            <a:r>
              <a:rPr lang="en-US" altLang="pt-BR" i="1" dirty="0"/>
              <a:t>front-end </a:t>
            </a:r>
            <a:r>
              <a:rPr lang="en-US" altLang="pt-BR" dirty="0"/>
              <a:t>do </a:t>
            </a:r>
            <a:r>
              <a:rPr lang="en-US" altLang="pt-BR" dirty="0" err="1"/>
              <a:t>compilador</a:t>
            </a:r>
            <a:r>
              <a:rPr lang="en-US" altLang="pt-BR" dirty="0"/>
              <a:t> </a:t>
            </a:r>
            <a:br>
              <a:rPr lang="en-US" altLang="pt-BR" dirty="0"/>
            </a:br>
            <a:r>
              <a:rPr lang="en-US" altLang="pt-BR" dirty="0"/>
              <a:t>(</a:t>
            </a:r>
            <a:r>
              <a:rPr lang="en-US" altLang="pt-BR" dirty="0" err="1"/>
              <a:t>até</a:t>
            </a:r>
            <a:r>
              <a:rPr lang="en-US" altLang="pt-BR" dirty="0"/>
              <a:t> </a:t>
            </a:r>
            <a:r>
              <a:rPr lang="en-US" altLang="pt-BR" dirty="0" err="1"/>
              <a:t>geração</a:t>
            </a:r>
            <a:r>
              <a:rPr lang="en-US" altLang="pt-BR" dirty="0"/>
              <a:t> de </a:t>
            </a:r>
            <a:r>
              <a:rPr lang="en-US" altLang="pt-BR" dirty="0" err="1"/>
              <a:t>código</a:t>
            </a:r>
            <a:r>
              <a:rPr lang="en-US" altLang="pt-BR" dirty="0"/>
              <a:t> </a:t>
            </a:r>
            <a:r>
              <a:rPr lang="en-US" altLang="pt-BR" dirty="0" err="1"/>
              <a:t>intermediário</a:t>
            </a:r>
            <a:r>
              <a:rPr lang="en-US" altLang="pt-BR" dirty="0"/>
              <a:t>)</a:t>
            </a:r>
          </a:p>
          <a:p>
            <a:pPr algn="ctr" eaLnBrk="1" hangingPunct="1">
              <a:buFontTx/>
              <a:buNone/>
            </a:pPr>
            <a:endParaRPr lang="en-US" altLang="pt-BR" i="1" dirty="0"/>
          </a:p>
          <a:p>
            <a:pPr algn="ctr" eaLnBrk="1" hangingPunct="1">
              <a:buFontTx/>
              <a:buNone/>
            </a:pPr>
            <a:r>
              <a:rPr lang="en-US" altLang="pt-BR" dirty="0" err="1"/>
              <a:t>Síntese</a:t>
            </a:r>
            <a:r>
              <a:rPr lang="en-US" altLang="pt-BR" dirty="0"/>
              <a:t>: </a:t>
            </a:r>
            <a:r>
              <a:rPr lang="en-US" altLang="pt-BR" i="1" dirty="0"/>
              <a:t>back-end</a:t>
            </a:r>
            <a:r>
              <a:rPr lang="en-US" altLang="pt-BR" dirty="0"/>
              <a:t> do </a:t>
            </a:r>
            <a:r>
              <a:rPr lang="en-US" altLang="pt-BR" dirty="0" err="1"/>
              <a:t>compilador</a:t>
            </a:r>
            <a:endParaRPr lang="pt-BR" altLang="pt-BR" i="1" dirty="0"/>
          </a:p>
        </p:txBody>
      </p:sp>
    </p:spTree>
    <p:extLst>
      <p:ext uri="{BB962C8B-B14F-4D97-AF65-F5344CB8AC3E}">
        <p14:creationId xmlns:p14="http://schemas.microsoft.com/office/powerpoint/2010/main" val="3790650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611560" y="1916832"/>
            <a:ext cx="7776864" cy="39604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pt-PT" altLang="pt-BR" sz="2400" dirty="0">
                <a:latin typeface="Comic Sans MS" panose="030F0702030302020204" pitchFamily="66" charset="0"/>
              </a:rPr>
              <a:t>Na compilação a análise consiste em 3 partes:</a:t>
            </a:r>
          </a:p>
          <a:p>
            <a:pPr lvl="1" eaLnBrk="1" hangingPunct="1">
              <a:lnSpc>
                <a:spcPct val="90000"/>
              </a:lnSpc>
              <a:buFontTx/>
              <a:buChar char="•"/>
            </a:pPr>
            <a:endParaRPr lang="pt-PT" altLang="pt-BR" sz="2400" dirty="0">
              <a:latin typeface="Comic Sans MS" panose="030F0702030302020204" pitchFamily="66" charset="0"/>
            </a:endParaRPr>
          </a:p>
          <a:p>
            <a:pPr lvl="1" eaLnBrk="1" hangingPunct="1">
              <a:lnSpc>
                <a:spcPct val="90000"/>
              </a:lnSpc>
              <a:buFontTx/>
              <a:buChar char="•"/>
            </a:pPr>
            <a:r>
              <a:rPr lang="pt-PT" altLang="pt-BR" sz="2000" dirty="0">
                <a:solidFill>
                  <a:srgbClr val="FF0000"/>
                </a:solidFill>
                <a:latin typeface="Comic Sans MS" panose="030F0702030302020204" pitchFamily="66" charset="0"/>
              </a:rPr>
              <a:t>Análise Léxica ou Linear</a:t>
            </a:r>
            <a:r>
              <a:rPr lang="pt-PT" altLang="pt-BR" sz="2000" dirty="0">
                <a:latin typeface="Comic Sans MS" panose="030F0702030302020204" pitchFamily="66" charset="0"/>
              </a:rPr>
              <a:t>:</a:t>
            </a:r>
          </a:p>
          <a:p>
            <a:pPr lvl="2" eaLnBrk="1" hangingPunct="1">
              <a:lnSpc>
                <a:spcPct val="90000"/>
              </a:lnSpc>
              <a:buFontTx/>
              <a:buChar char="•"/>
            </a:pPr>
            <a:r>
              <a:rPr lang="pt-PT" altLang="pt-BR" sz="1800" dirty="0">
                <a:latin typeface="Comic Sans MS" panose="030F0702030302020204" pitchFamily="66" charset="0"/>
              </a:rPr>
              <a:t>Em que a cadeia de caracteres que forma a estrutura do programa fonte é lido da esquerda para a direita e agrupado em </a:t>
            </a:r>
            <a:r>
              <a:rPr lang="pt-PT" altLang="pt-BR" sz="1800" i="1" dirty="0">
                <a:latin typeface="Comic Sans MS" panose="030F0702030302020204" pitchFamily="66" charset="0"/>
              </a:rPr>
              <a:t>tokens </a:t>
            </a:r>
            <a:r>
              <a:rPr lang="pt-PT" altLang="pt-BR" sz="1800" dirty="0">
                <a:latin typeface="Comic Sans MS" panose="030F0702030302020204" pitchFamily="66" charset="0"/>
              </a:rPr>
              <a:t>que são sequências de caracteres tendo o sentido colectivo. 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pt-PT" altLang="pt-BR" sz="1800" dirty="0">
              <a:latin typeface="Comic Sans MS" panose="030F0702030302020204" pitchFamily="66" charset="0"/>
            </a:endParaRPr>
          </a:p>
          <a:p>
            <a:pPr lvl="2" eaLnBrk="1" hangingPunct="1">
              <a:lnSpc>
                <a:spcPct val="90000"/>
              </a:lnSpc>
              <a:buFontTx/>
              <a:buChar char="•"/>
            </a:pPr>
            <a:r>
              <a:rPr lang="pt-PT" altLang="pt-BR"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A sua função básica é o reconhecimento e a classificação das estruturas elementares ou classes sintáticas das linguagens</a:t>
            </a:r>
            <a:r>
              <a:rPr lang="pt-PT" altLang="pt-BR" sz="1800" dirty="0">
                <a:latin typeface="Comic Sans MS" panose="030F0702030302020204" pitchFamily="66" charset="0"/>
              </a:rPr>
              <a:t>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pt-PT" altLang="pt-BR" sz="2000" dirty="0">
              <a:latin typeface="Comic Sans MS" panose="030F0702030302020204" pitchFamily="66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GB" altLang="pt-BR" sz="2000" dirty="0">
              <a:latin typeface="Comic Sans MS" panose="030F0702030302020204" pitchFamily="66" charset="0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835696" y="857617"/>
            <a:ext cx="4536504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b">
            <a:spAutoFit/>
          </a:bodyPr>
          <a:lstStyle/>
          <a:p>
            <a:pPr algn="ctr">
              <a:defRPr/>
            </a:pPr>
            <a:r>
              <a:rPr kumimoji="1" lang="pt-PT"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itchFamily="66" charset="0"/>
              </a:rPr>
              <a:t>Análise do programa fonte</a:t>
            </a:r>
            <a:endParaRPr kumimoji="1" lang="en-GB" sz="24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915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043608" y="1772816"/>
            <a:ext cx="7344816" cy="3352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pt-PT" altLang="pt-BR" sz="2400" dirty="0">
              <a:latin typeface="Comic Sans MS" panose="030F0702030302020204" pitchFamily="66" charset="0"/>
            </a:endParaRPr>
          </a:p>
          <a:p>
            <a:pPr lvl="1" eaLnBrk="1" hangingPunct="1">
              <a:buFontTx/>
              <a:buChar char="•"/>
            </a:pPr>
            <a:r>
              <a:rPr lang="pt-PT" altLang="pt-BR" sz="2000" dirty="0">
                <a:solidFill>
                  <a:srgbClr val="FF0000"/>
                </a:solidFill>
                <a:latin typeface="Comic Sans MS" panose="030F0702030302020204" pitchFamily="66" charset="0"/>
              </a:rPr>
              <a:t>Análise sintática ou hierárquica</a:t>
            </a:r>
            <a:r>
              <a:rPr lang="pt-PT" altLang="pt-BR" sz="2000" dirty="0">
                <a:latin typeface="Comic Sans MS" panose="030F0702030302020204" pitchFamily="66" charset="0"/>
              </a:rPr>
              <a:t>: </a:t>
            </a:r>
          </a:p>
          <a:p>
            <a:pPr lvl="2" eaLnBrk="1" hangingPunct="1">
              <a:buFontTx/>
              <a:buChar char="•"/>
            </a:pPr>
            <a:r>
              <a:rPr lang="pt-PT" altLang="pt-BR" sz="1800" dirty="0">
                <a:latin typeface="Comic Sans MS" panose="030F0702030302020204" pitchFamily="66" charset="0"/>
              </a:rPr>
              <a:t>Na qual caracteres ou tokens são agrupados hierarquicamente em colecções aninhadas com sentido colectivo. </a:t>
            </a:r>
          </a:p>
          <a:p>
            <a:pPr lvl="2" eaLnBrk="1" hangingPunct="1">
              <a:buFontTx/>
              <a:buNone/>
            </a:pPr>
            <a:endParaRPr lang="pt-PT" altLang="pt-BR" sz="1800" dirty="0">
              <a:latin typeface="Comic Sans MS" panose="030F0702030302020204" pitchFamily="66" charset="0"/>
            </a:endParaRPr>
          </a:p>
          <a:p>
            <a:pPr lvl="2" eaLnBrk="1" hangingPunct="1">
              <a:buFontTx/>
              <a:buChar char="•"/>
            </a:pPr>
            <a:r>
              <a:rPr lang="pt-PT" altLang="pt-BR"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Verifica se a estrutura geral do texto ou programa fonte está correta.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201377" y="855613"/>
            <a:ext cx="3966150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pPr algn="ctr">
              <a:defRPr/>
            </a:pPr>
            <a:r>
              <a:rPr kumimoji="1" lang="pt-PT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Análise do programa fonte</a:t>
            </a:r>
            <a:endParaRPr kumimoji="1" lang="en-GB" sz="2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06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27584" y="1628800"/>
            <a:ext cx="7560840" cy="39604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>
              <a:buFontTx/>
              <a:buChar char="•"/>
            </a:pPr>
            <a:r>
              <a:rPr lang="pt-PT" altLang="pt-BR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Análise semântica:</a:t>
            </a:r>
            <a:r>
              <a:rPr lang="pt-PT" altLang="pt-BR" sz="2400" dirty="0">
                <a:latin typeface="Comic Sans MS" panose="030F0702030302020204" pitchFamily="66" charset="0"/>
              </a:rPr>
              <a:t> </a:t>
            </a:r>
          </a:p>
          <a:p>
            <a:pPr lvl="2" eaLnBrk="1" hangingPunct="1">
              <a:buFontTx/>
              <a:buChar char="•"/>
            </a:pPr>
            <a:r>
              <a:rPr lang="pt-PT" altLang="pt-BR" sz="1800" dirty="0">
                <a:latin typeface="Comic Sans MS" panose="030F0702030302020204" pitchFamily="66" charset="0"/>
              </a:rPr>
              <a:t>Na qual são executadas certas paragens para assegurar que os componentes de um programa são juntamente ajustados em sentido absoluto. </a:t>
            </a:r>
          </a:p>
          <a:p>
            <a:pPr lvl="2" eaLnBrk="1" hangingPunct="1">
              <a:buFontTx/>
              <a:buChar char="•"/>
            </a:pPr>
            <a:endParaRPr lang="pt-PT" altLang="pt-BR" sz="1800" dirty="0">
              <a:latin typeface="Comic Sans MS" panose="030F0702030302020204" pitchFamily="66" charset="0"/>
            </a:endParaRPr>
          </a:p>
          <a:p>
            <a:pPr lvl="2" eaLnBrk="1" hangingPunct="1">
              <a:buFontTx/>
              <a:buChar char="•"/>
            </a:pPr>
            <a:r>
              <a:rPr lang="pt-PT" altLang="pt-BR"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Verifica se o programa fonte tem erros semânticos e reúne a informação dos tipos para a fase de gerador de código subsequente.</a:t>
            </a:r>
            <a:r>
              <a:rPr lang="pt-PT" altLang="pt-BR" sz="1800" dirty="0">
                <a:latin typeface="Comic Sans MS" panose="030F0702030302020204" pitchFamily="66" charset="0"/>
              </a:rPr>
              <a:t> </a:t>
            </a:r>
          </a:p>
          <a:p>
            <a:pPr lvl="2" eaLnBrk="1" hangingPunct="1">
              <a:buFontTx/>
              <a:buChar char="•"/>
            </a:pPr>
            <a:endParaRPr lang="pt-PT" altLang="pt-BR" sz="1800" dirty="0">
              <a:latin typeface="Comic Sans MS" panose="030F0702030302020204" pitchFamily="66" charset="0"/>
            </a:endParaRPr>
          </a:p>
          <a:p>
            <a:pPr lvl="2" eaLnBrk="1" hangingPunct="1">
              <a:buFontTx/>
              <a:buChar char="•"/>
            </a:pPr>
            <a:r>
              <a:rPr lang="pt-PT" altLang="pt-BR" sz="1800" dirty="0">
                <a:solidFill>
                  <a:srgbClr val="FF0000"/>
                </a:solidFill>
                <a:latin typeface="Comic Sans MS" panose="030F0702030302020204" pitchFamily="66" charset="0"/>
              </a:rPr>
              <a:t>Uma componente importante da análise semântica é a verificação do tipo.</a:t>
            </a:r>
          </a:p>
          <a:p>
            <a:pPr lvl="1" eaLnBrk="1" hangingPunct="1">
              <a:buFontTx/>
              <a:buChar char="•"/>
            </a:pPr>
            <a:endParaRPr lang="en-GB" altLang="pt-BR" sz="18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273385" y="783605"/>
            <a:ext cx="3966150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pPr algn="ctr">
              <a:defRPr/>
            </a:pPr>
            <a:r>
              <a:rPr kumimoji="1" lang="pt-PT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Análise do programa fonte</a:t>
            </a:r>
            <a:endParaRPr kumimoji="1" lang="en-GB" sz="2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97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555776" y="836712"/>
            <a:ext cx="3562194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pPr algn="ctr">
              <a:defRPr/>
            </a:pPr>
            <a:r>
              <a:rPr kumimoji="1" lang="pt-PT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Fases de um compilador</a:t>
            </a:r>
            <a:endParaRPr kumimoji="1" lang="en-GB" sz="2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pitchFamily="66" charset="0"/>
            </a:endParaRPr>
          </a:p>
        </p:txBody>
      </p:sp>
      <p:sp>
        <p:nvSpPr>
          <p:cNvPr id="3" name="Rectangle 5"/>
          <p:cNvSpPr txBox="1">
            <a:spLocks noChangeArrowheads="1"/>
          </p:cNvSpPr>
          <p:nvPr/>
        </p:nvSpPr>
        <p:spPr>
          <a:xfrm>
            <a:off x="1021110" y="1700808"/>
            <a:ext cx="7439322" cy="36724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Char char="•"/>
            </a:pPr>
            <a:r>
              <a:rPr lang="pt-PT" altLang="pt-BR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Gerenciador da tabela de símbolos:</a:t>
            </a:r>
            <a:r>
              <a:rPr lang="pt-PT" altLang="pt-BR" sz="2400" dirty="0">
                <a:latin typeface="Comic Sans MS" panose="030F0702030302020204" pitchFamily="66" charset="0"/>
              </a:rPr>
              <a:t> </a:t>
            </a:r>
          </a:p>
          <a:p>
            <a:pPr lvl="1" eaLnBrk="1" hangingPunct="1">
              <a:buFontTx/>
              <a:buChar char="•"/>
            </a:pPr>
            <a:r>
              <a:rPr lang="pt-PT" altLang="pt-BR" sz="2000" dirty="0">
                <a:latin typeface="Comic Sans MS" panose="030F0702030302020204" pitchFamily="66" charset="0"/>
              </a:rPr>
              <a:t>Uma função essencial de um </a:t>
            </a:r>
            <a:r>
              <a:rPr lang="pt-PT" altLang="pt-BR" sz="2000" dirty="0">
                <a:solidFill>
                  <a:srgbClr val="FF0000"/>
                </a:solidFill>
                <a:latin typeface="Comic Sans MS" panose="030F0702030302020204" pitchFamily="66" charset="0"/>
              </a:rPr>
              <a:t>compilador</a:t>
            </a:r>
            <a:r>
              <a:rPr lang="pt-PT" altLang="pt-BR" sz="2000" dirty="0">
                <a:latin typeface="Comic Sans MS" panose="030F0702030302020204" pitchFamily="66" charset="0"/>
              </a:rPr>
              <a:t> é registar os identificadores usados no programa fonte e coleccionar informação sobre vários atributos de cada identificador.</a:t>
            </a:r>
          </a:p>
          <a:p>
            <a:pPr lvl="1" eaLnBrk="1" hangingPunct="1">
              <a:buFontTx/>
              <a:buChar char="•"/>
            </a:pPr>
            <a:endParaRPr lang="pt-PT" altLang="pt-BR" sz="2000" dirty="0">
              <a:latin typeface="Comic Sans MS" panose="030F0702030302020204" pitchFamily="66" charset="0"/>
            </a:endParaRPr>
          </a:p>
          <a:p>
            <a:pPr lvl="1" eaLnBrk="1" hangingPunct="1">
              <a:buFontTx/>
              <a:buChar char="•"/>
            </a:pPr>
            <a:r>
              <a:rPr lang="pt-PT" altLang="pt-BR" sz="2000" dirty="0">
                <a:latin typeface="Comic Sans MS" panose="030F0702030302020204" pitchFamily="66" charset="0"/>
              </a:rPr>
              <a:t> Uma tabela de símbolos é uma estrutura de dados contendo o registo de cada identificador, com campos para os atributos do identificador. </a:t>
            </a:r>
          </a:p>
          <a:p>
            <a:pPr lvl="1" eaLnBrk="1" hangingPunct="1">
              <a:buFontTx/>
              <a:buChar char="•"/>
            </a:pPr>
            <a:endParaRPr lang="pt-PT" altLang="pt-BR" sz="2000" dirty="0">
              <a:latin typeface="Comic Sans MS" panose="030F0702030302020204" pitchFamily="66" charset="0"/>
            </a:endParaRPr>
          </a:p>
          <a:p>
            <a:pPr eaLnBrk="1" hangingPunct="1">
              <a:buFontTx/>
              <a:buNone/>
            </a:pPr>
            <a:endParaRPr lang="pt-PT" altLang="pt-BR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98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341219" y="711597"/>
            <a:ext cx="3562194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pPr algn="ctr">
              <a:defRPr/>
            </a:pPr>
            <a:r>
              <a:rPr kumimoji="1" lang="pt-PT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Fases de um compilador</a:t>
            </a:r>
            <a:endParaRPr kumimoji="1" lang="en-GB" sz="2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pitchFamily="66" charset="0"/>
            </a:endParaRPr>
          </a:p>
        </p:txBody>
      </p:sp>
      <p:sp>
        <p:nvSpPr>
          <p:cNvPr id="3" name="Rectangle 5"/>
          <p:cNvSpPr txBox="1">
            <a:spLocks noChangeArrowheads="1"/>
          </p:cNvSpPr>
          <p:nvPr/>
        </p:nvSpPr>
        <p:spPr>
          <a:xfrm>
            <a:off x="755576" y="1772816"/>
            <a:ext cx="7704856" cy="3276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Char char="•"/>
            </a:pPr>
            <a:r>
              <a:rPr lang="pt-PT" altLang="pt-BR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Tabela de códigos:</a:t>
            </a:r>
            <a:r>
              <a:rPr lang="pt-PT" altLang="pt-BR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</a:p>
          <a:p>
            <a:pPr lvl="1" eaLnBrk="1" hangingPunct="1">
              <a:buFontTx/>
              <a:buChar char="•"/>
            </a:pPr>
            <a:r>
              <a:rPr lang="pt-PT" altLang="pt-BR" sz="2000" dirty="0">
                <a:latin typeface="Comic Sans MS" panose="030F0702030302020204" pitchFamily="66" charset="0"/>
              </a:rPr>
              <a:t>É uma estrutura criada pela análise semântica de um compilador, que mantém registadas as linhas código intermediário geradas por algum tempo. </a:t>
            </a:r>
          </a:p>
          <a:p>
            <a:pPr lvl="1" eaLnBrk="1" hangingPunct="1">
              <a:buFontTx/>
              <a:buChar char="•"/>
            </a:pPr>
            <a:endParaRPr lang="pt-PT" altLang="pt-BR" sz="2000" dirty="0">
              <a:latin typeface="Comic Sans MS" panose="030F0702030302020204" pitchFamily="66" charset="0"/>
            </a:endParaRPr>
          </a:p>
          <a:p>
            <a:pPr lvl="1" eaLnBrk="1" hangingPunct="1">
              <a:buFontTx/>
              <a:buChar char="•"/>
            </a:pPr>
            <a:r>
              <a:rPr lang="pt-PT" altLang="pt-BR" sz="2000" dirty="0">
                <a:latin typeface="Comic Sans MS" panose="030F0702030302020204" pitchFamily="66" charset="0"/>
              </a:rPr>
              <a:t>Em geral as linhas de código geradas permanecem nesta tabela enquanto não estão totalmente preenchidas.</a:t>
            </a:r>
          </a:p>
          <a:p>
            <a:pPr lvl="1" eaLnBrk="1" hangingPunct="1">
              <a:buFontTx/>
              <a:buChar char="•"/>
            </a:pPr>
            <a:endParaRPr lang="pt-PT" altLang="pt-BR" sz="2000" dirty="0">
              <a:latin typeface="Comic Sans MS" panose="030F0702030302020204" pitchFamily="66" charset="0"/>
            </a:endParaRPr>
          </a:p>
          <a:p>
            <a:pPr lvl="1" eaLnBrk="1" hangingPunct="1">
              <a:buFontTx/>
              <a:buNone/>
            </a:pPr>
            <a:endParaRPr lang="pt-PT" altLang="pt-BR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09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413227" y="783605"/>
            <a:ext cx="3562194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b">
            <a:spAutoFit/>
          </a:bodyPr>
          <a:lstStyle/>
          <a:p>
            <a:pPr algn="ctr">
              <a:defRPr/>
            </a:pPr>
            <a:r>
              <a:rPr kumimoji="1" lang="pt-PT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Fases de um compilador</a:t>
            </a:r>
            <a:endParaRPr kumimoji="1" lang="en-GB" sz="2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pitchFamily="66" charset="0"/>
            </a:endParaRPr>
          </a:p>
        </p:txBody>
      </p:sp>
      <p:sp>
        <p:nvSpPr>
          <p:cNvPr id="3" name="Rectangle 5"/>
          <p:cNvSpPr txBox="1">
            <a:spLocks noChangeArrowheads="1"/>
          </p:cNvSpPr>
          <p:nvPr/>
        </p:nvSpPr>
        <p:spPr>
          <a:xfrm>
            <a:off x="611560" y="1844824"/>
            <a:ext cx="7920880" cy="32403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Char char="•"/>
            </a:pPr>
            <a:r>
              <a:rPr lang="pt-PT" altLang="pt-BR" sz="24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Detecção de erros e aviso do erro:</a:t>
            </a:r>
          </a:p>
          <a:p>
            <a:pPr lvl="1" eaLnBrk="1" hangingPunct="1">
              <a:buFontTx/>
              <a:buChar char="•"/>
            </a:pPr>
            <a:r>
              <a:rPr lang="pt-PT" altLang="pt-BR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Cada fase pode encontrar erros. Porém, depois de descobrir um erro, a fase tem de ocupa-se de alguma maneira com aquele erro, para que a compilação possa prosseguir. </a:t>
            </a:r>
          </a:p>
          <a:p>
            <a:pPr lvl="1" eaLnBrk="1" hangingPunct="1">
              <a:buFontTx/>
              <a:buChar char="•"/>
            </a:pPr>
            <a:endParaRPr lang="pt-PT" altLang="pt-BR" sz="2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lvl="1" eaLnBrk="1" hangingPunct="1">
              <a:buFontTx/>
              <a:buChar char="•"/>
            </a:pPr>
            <a:r>
              <a:rPr lang="pt-PT" altLang="pt-BR" sz="2000" dirty="0">
                <a:latin typeface="Comic Sans MS" panose="030F0702030302020204" pitchFamily="66" charset="0"/>
                <a:cs typeface="Times New Roman" panose="02020603050405020304" pitchFamily="18" charset="0"/>
              </a:rPr>
              <a:t>As fases de análise sintáctica e semântica normalmente tratam de uma grande fracção dos erros detectáveis pelo compilador.</a:t>
            </a:r>
          </a:p>
          <a:p>
            <a:pPr eaLnBrk="1" hangingPunct="1">
              <a:buFontTx/>
              <a:buChar char="•"/>
            </a:pPr>
            <a:endParaRPr lang="pt-PT" altLang="pt-BR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95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 descr="Large confetti"/>
          <p:cNvSpPr>
            <a:spLocks noGrp="1" noChangeArrowheads="1"/>
          </p:cNvSpPr>
          <p:nvPr>
            <p:ph type="title" idx="4294967295"/>
          </p:nvPr>
        </p:nvSpPr>
        <p:spPr>
          <a:xfrm>
            <a:off x="1116013" y="692695"/>
            <a:ext cx="6408315" cy="734467"/>
          </a:xfrm>
        </p:spPr>
        <p:txBody>
          <a:bodyPr anchor="ctr"/>
          <a:lstStyle/>
          <a:p>
            <a:pPr eaLnBrk="1" hangingPunct="1"/>
            <a:r>
              <a:rPr lang="en-US" altLang="pt-BR" sz="3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Programas</a:t>
            </a:r>
            <a:r>
              <a:rPr lang="en-US" altLang="pt-BR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pt-BR" sz="3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baseados</a:t>
            </a:r>
            <a:r>
              <a:rPr lang="en-US" altLang="pt-BR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pt-BR" sz="3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em</a:t>
            </a:r>
            <a:r>
              <a:rPr lang="en-US" altLang="pt-BR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pt-BR" sz="3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análise</a:t>
            </a:r>
            <a:endParaRPr lang="pt-BR" altLang="pt-BR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3568" y="1700808"/>
            <a:ext cx="7488832" cy="3168352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pt-BR" dirty="0" err="1"/>
              <a:t>Editores</a:t>
            </a:r>
            <a:r>
              <a:rPr lang="en-US" altLang="pt-BR" dirty="0"/>
              <a:t> de </a:t>
            </a:r>
            <a:r>
              <a:rPr lang="en-US" altLang="pt-BR" dirty="0" err="1"/>
              <a:t>programa</a:t>
            </a:r>
            <a:r>
              <a:rPr lang="en-US" altLang="pt-BR" dirty="0"/>
              <a:t> </a:t>
            </a:r>
            <a:r>
              <a:rPr lang="en-US" altLang="pt-BR" dirty="0" err="1"/>
              <a:t>dirigidos</a:t>
            </a:r>
            <a:r>
              <a:rPr lang="en-US" altLang="pt-BR" dirty="0"/>
              <a:t> à </a:t>
            </a:r>
            <a:r>
              <a:rPr lang="en-US" altLang="pt-BR" dirty="0" err="1"/>
              <a:t>sintaxe</a:t>
            </a:r>
            <a:r>
              <a:rPr lang="en-US" altLang="pt-BR" dirty="0"/>
              <a:t> (</a:t>
            </a:r>
            <a:r>
              <a:rPr lang="en-US" altLang="pt-BR" dirty="0" err="1"/>
              <a:t>comuns</a:t>
            </a:r>
            <a:r>
              <a:rPr lang="en-US" altLang="pt-BR" dirty="0"/>
              <a:t> </a:t>
            </a:r>
            <a:r>
              <a:rPr lang="en-US" altLang="pt-BR" dirty="0" err="1"/>
              <a:t>nos</a:t>
            </a:r>
            <a:r>
              <a:rPr lang="en-US" altLang="pt-BR" dirty="0"/>
              <a:t> IDEs, </a:t>
            </a:r>
            <a:r>
              <a:rPr lang="en-US" altLang="pt-BR" dirty="0" err="1"/>
              <a:t>como</a:t>
            </a:r>
            <a:r>
              <a:rPr lang="en-US" altLang="pt-BR" dirty="0"/>
              <a:t> no Eclipse e Visual Studio)</a:t>
            </a:r>
          </a:p>
          <a:p>
            <a:pPr eaLnBrk="1" hangingPunct="1"/>
            <a:r>
              <a:rPr lang="en-US" altLang="pt-BR" dirty="0"/>
              <a:t>Pretty-printers</a:t>
            </a:r>
          </a:p>
          <a:p>
            <a:pPr eaLnBrk="1" hangingPunct="1"/>
            <a:r>
              <a:rPr lang="en-US" altLang="pt-BR" dirty="0" err="1"/>
              <a:t>Interpretadores</a:t>
            </a:r>
            <a:endParaRPr lang="en-US" altLang="pt-BR" dirty="0"/>
          </a:p>
          <a:p>
            <a:pPr eaLnBrk="1" hangingPunct="1"/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924217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ítulo 1" descr="Large confetti"/>
          <p:cNvSpPr>
            <a:spLocks noGrp="1"/>
          </p:cNvSpPr>
          <p:nvPr>
            <p:ph type="title" idx="4294967295"/>
          </p:nvPr>
        </p:nvSpPr>
        <p:spPr>
          <a:xfrm>
            <a:off x="683568" y="692696"/>
            <a:ext cx="7462838" cy="768350"/>
          </a:xfrm>
        </p:spPr>
        <p:txBody>
          <a:bodyPr lIns="0" rIns="0" bIns="0"/>
          <a:lstStyle/>
          <a:p>
            <a:pPr eaLnBrk="1" hangingPunct="1"/>
            <a:r>
              <a:rPr lang="pt-BR" altLang="pt-BR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 fase da análise léxica</a:t>
            </a:r>
          </a:p>
        </p:txBody>
      </p:sp>
      <p:sp>
        <p:nvSpPr>
          <p:cNvPr id="2560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70912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273050" indent="-273050" algn="just" eaLnBrk="1" hangingPunct="1"/>
            <a:r>
              <a:rPr lang="pt-BR" altLang="pt-BR" sz="2400" dirty="0">
                <a:latin typeface="Calibri" panose="020F0502020204030204" pitchFamily="34" charset="0"/>
              </a:rPr>
              <a:t>Análise léxica é o processo de analisar a entrada de linhas de caracteres (tal como o código-fonte de um programa de computador) e produzir uma </a:t>
            </a:r>
            <a:r>
              <a:rPr lang="pt-BR" altLang="pt-BR" sz="2400" dirty="0" err="1">
                <a:latin typeface="Calibri" panose="020F0502020204030204" pitchFamily="34" charset="0"/>
              </a:rPr>
              <a:t>seqüência</a:t>
            </a:r>
            <a:r>
              <a:rPr lang="pt-BR" altLang="pt-BR" sz="2400" dirty="0">
                <a:latin typeface="Calibri" panose="020F0502020204030204" pitchFamily="34" charset="0"/>
              </a:rPr>
              <a:t> de símbolos chamado "símbolos léxicos" (lexical </a:t>
            </a:r>
            <a:r>
              <a:rPr lang="pt-BR" altLang="pt-BR" sz="2400" dirty="0" err="1">
                <a:latin typeface="Calibri" panose="020F0502020204030204" pitchFamily="34" charset="0"/>
              </a:rPr>
              <a:t>tokens</a:t>
            </a:r>
            <a:r>
              <a:rPr lang="pt-BR" altLang="pt-BR" sz="2400" dirty="0">
                <a:latin typeface="Calibri" panose="020F0502020204030204" pitchFamily="34" charset="0"/>
              </a:rPr>
              <a:t>), ou somente "símbolos" (</a:t>
            </a:r>
            <a:r>
              <a:rPr lang="pt-BR" altLang="pt-BR" sz="2400" dirty="0" err="1">
                <a:latin typeface="Calibri" panose="020F0502020204030204" pitchFamily="34" charset="0"/>
              </a:rPr>
              <a:t>tokens</a:t>
            </a:r>
            <a:r>
              <a:rPr lang="pt-BR" altLang="pt-BR" sz="2400" dirty="0">
                <a:latin typeface="Calibri" panose="020F0502020204030204" pitchFamily="34" charset="0"/>
              </a:rPr>
              <a:t>), que podem ser manipulados mais facilmente por um </a:t>
            </a:r>
            <a:r>
              <a:rPr lang="pt-BR" altLang="pt-BR" sz="2400" dirty="0" err="1">
                <a:latin typeface="Calibri" panose="020F0502020204030204" pitchFamily="34" charset="0"/>
              </a:rPr>
              <a:t>parser</a:t>
            </a:r>
            <a:r>
              <a:rPr lang="pt-BR" altLang="pt-BR" sz="2400" dirty="0">
                <a:latin typeface="Calibri" panose="020F0502020204030204" pitchFamily="34" charset="0"/>
              </a:rPr>
              <a:t> (leitor de saída).</a:t>
            </a:r>
          </a:p>
          <a:p>
            <a:pPr marL="273050" indent="-273050" algn="just" eaLnBrk="1" hangingPunct="1"/>
            <a:r>
              <a:rPr lang="pt-BR" altLang="pt-BR" sz="2400" dirty="0">
                <a:latin typeface="Calibri" panose="020F0502020204030204" pitchFamily="34" charset="0"/>
              </a:rPr>
              <a:t>A Análise Léxica é a forma de verificar determinado alfabeto. Quando analisamos uma palavra, podemos definir através da análise léxica se existe ou não algum </a:t>
            </a:r>
            <a:r>
              <a:rPr lang="pt-BR" altLang="pt-BR" sz="2400" dirty="0" err="1">
                <a:latin typeface="Calibri" panose="020F0502020204030204" pitchFamily="34" charset="0"/>
              </a:rPr>
              <a:t>caracter</a:t>
            </a:r>
            <a:r>
              <a:rPr lang="pt-BR" altLang="pt-BR" sz="2400" dirty="0">
                <a:latin typeface="Calibri" panose="020F0502020204030204" pitchFamily="34" charset="0"/>
              </a:rPr>
              <a:t> que não faz parte do nosso alfabeto, ou um alfabeto inventado por nós. O analisador léxico é a primeira etapa de um compilador, logo após virá a análise sintática.</a:t>
            </a:r>
            <a:endParaRPr lang="pt-BR" altLang="pt-BR" sz="2400" dirty="0"/>
          </a:p>
        </p:txBody>
      </p:sp>
    </p:spTree>
    <p:extLst>
      <p:ext uri="{BB962C8B-B14F-4D97-AF65-F5344CB8AC3E}">
        <p14:creationId xmlns:p14="http://schemas.microsoft.com/office/powerpoint/2010/main" val="21304214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 descr="Large confetti"/>
          <p:cNvSpPr>
            <a:spLocks noGrp="1" noChangeArrowheads="1"/>
          </p:cNvSpPr>
          <p:nvPr>
            <p:ph type="title" idx="4294967295"/>
          </p:nvPr>
        </p:nvSpPr>
        <p:spPr>
          <a:xfrm>
            <a:off x="901700" y="692696"/>
            <a:ext cx="7054676" cy="936104"/>
          </a:xfrm>
        </p:spPr>
        <p:txBody>
          <a:bodyPr anchor="ctr"/>
          <a:lstStyle/>
          <a:p>
            <a:pPr eaLnBrk="1" hangingPunct="1"/>
            <a:r>
              <a:rPr lang="en-US" altLang="pt-BR" sz="3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Análise</a:t>
            </a:r>
            <a:r>
              <a:rPr lang="en-US" altLang="pt-BR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pt-BR" sz="3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léxica</a:t>
            </a:r>
            <a:r>
              <a:rPr lang="en-US" altLang="pt-BR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pt-BR" sz="3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ou</a:t>
            </a:r>
            <a:r>
              <a:rPr lang="en-US" altLang="pt-BR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pt-BR" sz="3200" i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Scanning</a:t>
            </a:r>
            <a:endParaRPr lang="pt-BR" altLang="pt-BR" sz="3200" i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6627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914695" y="1844824"/>
            <a:ext cx="7556500" cy="410445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pt-BR" sz="2800" dirty="0" err="1"/>
              <a:t>Lê</a:t>
            </a:r>
            <a:r>
              <a:rPr lang="en-US" altLang="pt-BR" sz="2800" dirty="0"/>
              <a:t> </a:t>
            </a:r>
            <a:r>
              <a:rPr lang="en-US" altLang="pt-BR" sz="2800" dirty="0" err="1"/>
              <a:t>os</a:t>
            </a:r>
            <a:r>
              <a:rPr lang="en-US" altLang="pt-BR" sz="2800" dirty="0"/>
              <a:t> </a:t>
            </a:r>
            <a:r>
              <a:rPr lang="en-US" altLang="pt-BR" sz="2800" dirty="0" err="1"/>
              <a:t>caracteres</a:t>
            </a:r>
            <a:r>
              <a:rPr lang="en-US" altLang="pt-BR" sz="2800" dirty="0"/>
              <a:t> de entrada e </a:t>
            </a:r>
            <a:r>
              <a:rPr lang="en-US" altLang="pt-BR" sz="2800" dirty="0" err="1"/>
              <a:t>agrupa-os</a:t>
            </a:r>
            <a:r>
              <a:rPr lang="en-US" altLang="pt-BR" sz="2800" dirty="0"/>
              <a:t> </a:t>
            </a:r>
            <a:r>
              <a:rPr lang="en-US" altLang="pt-BR" sz="2800" dirty="0" err="1"/>
              <a:t>em</a:t>
            </a:r>
            <a:r>
              <a:rPr lang="en-US" altLang="pt-BR" sz="2800" dirty="0"/>
              <a:t> </a:t>
            </a:r>
            <a:r>
              <a:rPr lang="en-US" altLang="pt-BR" sz="2800" dirty="0" err="1"/>
              <a:t>sequencias</a:t>
            </a:r>
            <a:r>
              <a:rPr lang="en-US" altLang="pt-BR" sz="2800" dirty="0"/>
              <a:t> </a:t>
            </a:r>
            <a:r>
              <a:rPr lang="en-US" altLang="pt-BR" sz="2800" dirty="0" err="1"/>
              <a:t>chamadas</a:t>
            </a:r>
            <a:r>
              <a:rPr lang="en-US" altLang="pt-BR" sz="2800" dirty="0"/>
              <a:t> </a:t>
            </a:r>
            <a:r>
              <a:rPr lang="en-US" altLang="pt-BR" sz="2800" i="1" dirty="0" err="1"/>
              <a:t>lexemas</a:t>
            </a:r>
            <a:r>
              <a:rPr lang="en-US" altLang="pt-BR" sz="2800" dirty="0"/>
              <a:t>.</a:t>
            </a:r>
          </a:p>
          <a:p>
            <a:pPr eaLnBrk="1" hangingPunct="1"/>
            <a:r>
              <a:rPr lang="en-US" altLang="pt-BR" sz="2800" dirty="0"/>
              <a:t>Para </a:t>
            </a:r>
            <a:r>
              <a:rPr lang="en-US" altLang="pt-BR" sz="2800" dirty="0" err="1"/>
              <a:t>cada</a:t>
            </a:r>
            <a:r>
              <a:rPr lang="en-US" altLang="pt-BR" sz="2800" dirty="0"/>
              <a:t> </a:t>
            </a:r>
            <a:r>
              <a:rPr lang="en-US" altLang="pt-BR" sz="2800" dirty="0" err="1"/>
              <a:t>lexema</a:t>
            </a:r>
            <a:r>
              <a:rPr lang="en-US" altLang="pt-BR" sz="2800" dirty="0"/>
              <a:t> o </a:t>
            </a:r>
            <a:r>
              <a:rPr lang="en-US" altLang="pt-BR" sz="2800" dirty="0" err="1"/>
              <a:t>analisador</a:t>
            </a:r>
            <a:r>
              <a:rPr lang="en-US" altLang="pt-BR" sz="2800" dirty="0"/>
              <a:t> </a:t>
            </a:r>
            <a:r>
              <a:rPr lang="en-US" altLang="pt-BR" sz="2800" dirty="0" err="1"/>
              <a:t>léxico</a:t>
            </a:r>
            <a:r>
              <a:rPr lang="en-US" altLang="pt-BR" sz="2800" dirty="0"/>
              <a:t> </a:t>
            </a:r>
            <a:r>
              <a:rPr lang="en-US" altLang="pt-BR" sz="2800" dirty="0" err="1"/>
              <a:t>produz</a:t>
            </a:r>
            <a:r>
              <a:rPr lang="en-US" altLang="pt-BR" sz="2800" dirty="0"/>
              <a:t> </a:t>
            </a:r>
            <a:r>
              <a:rPr lang="en-US" altLang="pt-BR" sz="2800" dirty="0" err="1"/>
              <a:t>como</a:t>
            </a:r>
            <a:r>
              <a:rPr lang="en-US" altLang="pt-BR" sz="2800" dirty="0"/>
              <a:t> </a:t>
            </a:r>
            <a:r>
              <a:rPr lang="en-US" altLang="pt-BR" sz="2800" dirty="0" err="1"/>
              <a:t>saída</a:t>
            </a:r>
            <a:r>
              <a:rPr lang="en-US" altLang="pt-BR" sz="2800" dirty="0"/>
              <a:t> um </a:t>
            </a:r>
            <a:r>
              <a:rPr lang="en-US" altLang="pt-BR" sz="2800" i="1" dirty="0"/>
              <a:t>token</a:t>
            </a:r>
            <a:r>
              <a:rPr lang="en-US" altLang="pt-BR" sz="2800" dirty="0"/>
              <a:t> da forma</a:t>
            </a:r>
            <a:br>
              <a:rPr lang="en-US" altLang="pt-BR" sz="2800" dirty="0"/>
            </a:br>
            <a:br>
              <a:rPr lang="en-US" altLang="pt-BR" sz="2800" dirty="0"/>
            </a:br>
            <a:r>
              <a:rPr lang="en-US" altLang="pt-BR" sz="2800" dirty="0"/>
              <a:t> &lt;</a:t>
            </a:r>
            <a:r>
              <a:rPr lang="en-US" altLang="pt-BR" sz="2800" i="1" dirty="0" err="1"/>
              <a:t>nome</a:t>
            </a:r>
            <a:r>
              <a:rPr lang="en-US" altLang="pt-BR" sz="2800" i="1" dirty="0"/>
              <a:t> do token</a:t>
            </a:r>
            <a:r>
              <a:rPr lang="en-US" altLang="pt-BR" sz="2800" dirty="0"/>
              <a:t>, </a:t>
            </a:r>
            <a:r>
              <a:rPr lang="en-US" altLang="pt-BR" sz="2800" i="1" dirty="0"/>
              <a:t>valor do </a:t>
            </a:r>
            <a:r>
              <a:rPr lang="en-US" altLang="pt-BR" sz="2800" i="1" dirty="0" err="1"/>
              <a:t>atributo</a:t>
            </a:r>
            <a:r>
              <a:rPr lang="en-US" altLang="pt-BR" sz="2800" dirty="0"/>
              <a:t>&gt;</a:t>
            </a:r>
            <a:br>
              <a:rPr lang="en-US" altLang="pt-BR" sz="2800" dirty="0"/>
            </a:br>
            <a:br>
              <a:rPr lang="pt-BR" altLang="pt-BR" sz="2800" dirty="0"/>
            </a:br>
            <a:r>
              <a:rPr lang="pt-BR" altLang="pt-BR" sz="2800" dirty="0"/>
              <a:t>que é passado para a fase seguinte.</a:t>
            </a:r>
          </a:p>
        </p:txBody>
      </p:sp>
    </p:spTree>
    <p:extLst>
      <p:ext uri="{BB962C8B-B14F-4D97-AF65-F5344CB8AC3E}">
        <p14:creationId xmlns:p14="http://schemas.microsoft.com/office/powerpoint/2010/main" val="35027882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 descr="Large confetti"/>
          <p:cNvSpPr>
            <a:spLocks noGrp="1" noChangeArrowheads="1"/>
          </p:cNvSpPr>
          <p:nvPr>
            <p:ph type="title" idx="4294967295"/>
          </p:nvPr>
        </p:nvSpPr>
        <p:spPr>
          <a:xfrm>
            <a:off x="901700" y="620688"/>
            <a:ext cx="6262588" cy="936104"/>
          </a:xfrm>
        </p:spPr>
        <p:txBody>
          <a:bodyPr anchor="ctr"/>
          <a:lstStyle/>
          <a:p>
            <a:pPr eaLnBrk="1" hangingPunct="1"/>
            <a:r>
              <a:rPr lang="en-US" altLang="pt-BR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Exemplo</a:t>
            </a:r>
            <a:endParaRPr lang="pt-BR" altLang="pt-BR" i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7651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1043608" y="1700808"/>
            <a:ext cx="7556500" cy="432048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pt-BR" sz="2800" dirty="0">
                <a:latin typeface="Letter Gothic" pitchFamily="49" charset="0"/>
              </a:rPr>
              <a:t>position = initial + rate * 60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br>
              <a:rPr lang="en-US" altLang="pt-BR" sz="2400" dirty="0"/>
            </a:br>
            <a:r>
              <a:rPr lang="en-US" altLang="pt-BR" sz="2400" dirty="0"/>
              <a:t>&lt;</a:t>
            </a:r>
            <a:r>
              <a:rPr lang="en-US" altLang="pt-BR" sz="2400" b="1" dirty="0" err="1"/>
              <a:t>identificador</a:t>
            </a:r>
            <a:r>
              <a:rPr lang="en-US" altLang="pt-BR" sz="2400" dirty="0"/>
              <a:t>, 1&gt;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pt-BR" sz="2400" dirty="0"/>
              <a:t>	&lt;</a:t>
            </a:r>
            <a:r>
              <a:rPr lang="en-US" altLang="pt-BR" sz="2400" b="1" dirty="0"/>
              <a:t>=</a:t>
            </a:r>
            <a:r>
              <a:rPr lang="en-US" altLang="pt-BR" sz="2400" dirty="0"/>
              <a:t>&gt;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pt-BR" sz="2400" dirty="0"/>
              <a:t>	&lt;</a:t>
            </a:r>
            <a:r>
              <a:rPr lang="en-US" altLang="pt-BR" sz="2400" b="1" dirty="0" err="1"/>
              <a:t>identificador</a:t>
            </a:r>
            <a:r>
              <a:rPr lang="en-US" altLang="pt-BR" sz="2400" dirty="0"/>
              <a:t>, 2&gt;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pt-BR" sz="2400" dirty="0"/>
              <a:t>	&lt;</a:t>
            </a:r>
            <a:r>
              <a:rPr lang="en-US" altLang="pt-BR" sz="2400" b="1" dirty="0"/>
              <a:t>+</a:t>
            </a:r>
            <a:r>
              <a:rPr lang="en-US" altLang="pt-BR" sz="2400" dirty="0"/>
              <a:t>&gt;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pt-BR" sz="2400" dirty="0"/>
              <a:t>	&lt;</a:t>
            </a:r>
            <a:r>
              <a:rPr lang="en-US" altLang="pt-BR" sz="2400" b="1" dirty="0" err="1"/>
              <a:t>identificador</a:t>
            </a:r>
            <a:r>
              <a:rPr lang="en-US" altLang="pt-BR" sz="2400" dirty="0"/>
              <a:t>, 3&gt;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pt-BR" sz="2400" dirty="0"/>
              <a:t>	&lt;</a:t>
            </a:r>
            <a:r>
              <a:rPr lang="en-US" altLang="pt-BR" sz="2400" b="1" dirty="0"/>
              <a:t>*</a:t>
            </a:r>
            <a:r>
              <a:rPr lang="en-US" altLang="pt-BR" sz="2400" dirty="0"/>
              <a:t>&gt;</a:t>
            </a:r>
            <a:endParaRPr lang="en-US" altLang="pt-BR" sz="2400" dirty="0">
              <a:latin typeface="Letter Gothic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pt-BR" sz="2400" dirty="0"/>
              <a:t>	&lt;</a:t>
            </a:r>
            <a:r>
              <a:rPr lang="en-US" altLang="pt-BR" sz="2400" b="1" dirty="0"/>
              <a:t>number</a:t>
            </a:r>
            <a:r>
              <a:rPr lang="en-US" altLang="pt-BR" sz="2400" dirty="0"/>
              <a:t>, 60&gt;</a:t>
            </a:r>
            <a:endParaRPr lang="pt-BR" altLang="pt-BR" sz="2400" dirty="0"/>
          </a:p>
        </p:txBody>
      </p:sp>
    </p:spTree>
    <p:extLst>
      <p:ext uri="{BB962C8B-B14F-4D97-AF65-F5344CB8AC3E}">
        <p14:creationId xmlns:p14="http://schemas.microsoft.com/office/powerpoint/2010/main" val="8917772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 descr="Large confetti"/>
          <p:cNvSpPr>
            <a:spLocks noGrp="1" noChangeArrowheads="1"/>
          </p:cNvSpPr>
          <p:nvPr>
            <p:ph type="title" idx="4294967295"/>
          </p:nvPr>
        </p:nvSpPr>
        <p:spPr>
          <a:xfrm>
            <a:off x="1475656" y="620688"/>
            <a:ext cx="6120680" cy="796950"/>
          </a:xfrm>
        </p:spPr>
        <p:txBody>
          <a:bodyPr anchor="ctr"/>
          <a:lstStyle/>
          <a:p>
            <a:pPr eaLnBrk="1" hangingPunct="1"/>
            <a:r>
              <a:rPr lang="en-US" altLang="pt-BR" sz="36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Tabela</a:t>
            </a:r>
            <a:r>
              <a:rPr lang="en-US" altLang="pt-BR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de </a:t>
            </a:r>
            <a:r>
              <a:rPr lang="en-US" altLang="pt-BR" sz="36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Símbolos</a:t>
            </a:r>
            <a:endParaRPr lang="pt-BR" altLang="pt-BR" sz="3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36917" name="Group 53"/>
          <p:cNvGraphicFramePr>
            <a:graphicFrameLocks noGrp="1"/>
          </p:cNvGraphicFramePr>
          <p:nvPr/>
        </p:nvGraphicFramePr>
        <p:xfrm>
          <a:off x="990600" y="1981200"/>
          <a:ext cx="7475538" cy="40640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5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identificador</a:t>
                      </a:r>
                      <a:endParaRPr kumimoji="0" lang="pt-B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tipo</a:t>
                      </a:r>
                      <a:endParaRPr kumimoji="0" lang="pt-BR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  <a:endParaRPr kumimoji="0" lang="pt-BR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tter Gothic" pitchFamily="49" charset="0"/>
                        </a:rPr>
                        <a:t>position</a:t>
                      </a:r>
                      <a:endParaRPr kumimoji="0" 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etter Gothic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  <a:endParaRPr kumimoji="0" 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tter Gothic" pitchFamily="49" charset="0"/>
                        </a:rPr>
                        <a:t>initial</a:t>
                      </a:r>
                      <a:endParaRPr kumimoji="0" 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etter Gothic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  <a:endParaRPr kumimoji="0" 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tter Gothic" pitchFamily="49" charset="0"/>
                        </a:rPr>
                        <a:t>rate</a:t>
                      </a:r>
                      <a:endParaRPr kumimoji="0" 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etter Gothic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  <a:endParaRPr kumimoji="0" 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  <a:endParaRPr kumimoji="0" 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  <a:endParaRPr kumimoji="0" 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  <a:endParaRPr kumimoji="0" 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39087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Large confetti"/>
          <p:cNvSpPr txBox="1">
            <a:spLocks noChangeArrowheads="1"/>
          </p:cNvSpPr>
          <p:nvPr/>
        </p:nvSpPr>
        <p:spPr>
          <a:xfrm>
            <a:off x="1835696" y="764704"/>
            <a:ext cx="4608512" cy="7200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pt-BR" altLang="pt-BR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Análise Léxica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395536" y="1628801"/>
            <a:ext cx="8229600" cy="49685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buFontTx/>
              <a:buNone/>
            </a:pPr>
            <a:r>
              <a:rPr lang="pt-BR" altLang="pt-BR" dirty="0"/>
              <a:t>	</a:t>
            </a:r>
            <a:r>
              <a:rPr lang="pt-BR" altLang="pt-BR" sz="2800" dirty="0"/>
              <a:t>O Analisador Léxico (</a:t>
            </a:r>
            <a:r>
              <a:rPr lang="pt-BR" altLang="pt-BR" sz="2800" i="1" dirty="0"/>
              <a:t>scanner</a:t>
            </a:r>
            <a:r>
              <a:rPr lang="pt-BR" altLang="pt-BR" sz="2800" dirty="0"/>
              <a:t>) examina o programa fonte caractere por caractere agrupando-os em conjuntos com um significado coletivo (</a:t>
            </a:r>
            <a:r>
              <a:rPr lang="pt-BR" altLang="pt-BR" sz="2800" i="1" dirty="0" err="1"/>
              <a:t>tokens</a:t>
            </a:r>
            <a:r>
              <a:rPr lang="pt-BR" altLang="pt-BR" sz="2800" dirty="0"/>
              <a:t>):</a:t>
            </a:r>
          </a:p>
          <a:p>
            <a:pPr algn="just" eaLnBrk="1" hangingPunct="1"/>
            <a:r>
              <a:rPr lang="pt-BR" altLang="pt-BR" sz="2800" dirty="0"/>
              <a:t>palavras chave (</a:t>
            </a:r>
            <a:r>
              <a:rPr lang="pt-BR" altLang="pt-BR" sz="2800" i="1" dirty="0" err="1"/>
              <a:t>if</a:t>
            </a:r>
            <a:r>
              <a:rPr lang="pt-BR" altLang="pt-BR" sz="2800" i="1" dirty="0"/>
              <a:t>, </a:t>
            </a:r>
            <a:r>
              <a:rPr lang="pt-BR" altLang="pt-BR" sz="2800" i="1" dirty="0" err="1"/>
              <a:t>else</a:t>
            </a:r>
            <a:r>
              <a:rPr lang="pt-BR" altLang="pt-BR" sz="2800" i="1" dirty="0"/>
              <a:t>, </a:t>
            </a:r>
            <a:r>
              <a:rPr lang="pt-BR" altLang="pt-BR" sz="2800" i="1" dirty="0" err="1"/>
              <a:t>while</a:t>
            </a:r>
            <a:r>
              <a:rPr lang="pt-BR" altLang="pt-BR" sz="2800" i="1" dirty="0"/>
              <a:t>, </a:t>
            </a:r>
            <a:r>
              <a:rPr lang="pt-BR" altLang="pt-BR" sz="2800" i="1" dirty="0" err="1"/>
              <a:t>int</a:t>
            </a:r>
            <a:r>
              <a:rPr lang="pt-BR" altLang="pt-BR" sz="2800" i="1" dirty="0"/>
              <a:t>, </a:t>
            </a:r>
            <a:r>
              <a:rPr lang="pt-BR" altLang="pt-BR" sz="2800" i="1" dirty="0" err="1"/>
              <a:t>etc</a:t>
            </a:r>
            <a:r>
              <a:rPr lang="pt-BR" altLang="pt-BR" sz="2800" dirty="0"/>
              <a:t>),</a:t>
            </a:r>
          </a:p>
          <a:p>
            <a:pPr algn="just" eaLnBrk="1" hangingPunct="1"/>
            <a:r>
              <a:rPr lang="pt-BR" altLang="pt-BR" sz="2800" dirty="0"/>
              <a:t>operadores (</a:t>
            </a:r>
            <a:r>
              <a:rPr lang="pt-BR" altLang="pt-BR" sz="2800" i="1" dirty="0"/>
              <a:t>+, -, *, /, ^, &amp;&amp;, </a:t>
            </a:r>
            <a:r>
              <a:rPr lang="pt-BR" altLang="pt-BR" sz="2800" i="1" dirty="0" err="1"/>
              <a:t>etc</a:t>
            </a:r>
            <a:r>
              <a:rPr lang="pt-BR" altLang="pt-BR" sz="2800" dirty="0"/>
              <a:t>),</a:t>
            </a:r>
          </a:p>
          <a:p>
            <a:pPr algn="just" eaLnBrk="1" hangingPunct="1"/>
            <a:r>
              <a:rPr lang="pt-BR" altLang="pt-BR" sz="2800" dirty="0"/>
              <a:t>constantes (</a:t>
            </a:r>
            <a:r>
              <a:rPr lang="pt-BR" altLang="pt-BR" sz="2800" i="1" dirty="0"/>
              <a:t>1, 1.0, ‘a’, 1.0f, </a:t>
            </a:r>
            <a:r>
              <a:rPr lang="pt-BR" altLang="pt-BR" sz="2800" i="1" dirty="0" err="1"/>
              <a:t>etc</a:t>
            </a:r>
            <a:r>
              <a:rPr lang="pt-BR" altLang="pt-BR" sz="2800" dirty="0"/>
              <a:t>),</a:t>
            </a:r>
          </a:p>
          <a:p>
            <a:pPr algn="just" eaLnBrk="1" hangingPunct="1"/>
            <a:r>
              <a:rPr lang="pt-BR" altLang="pt-BR" sz="2800" dirty="0"/>
              <a:t>literais (</a:t>
            </a:r>
            <a:r>
              <a:rPr lang="pt-BR" altLang="pt-BR" sz="2800" i="1" dirty="0"/>
              <a:t>“Projeto Mono”</a:t>
            </a:r>
            <a:r>
              <a:rPr lang="pt-BR" altLang="pt-BR" sz="2800" dirty="0"/>
              <a:t>),</a:t>
            </a:r>
          </a:p>
          <a:p>
            <a:pPr algn="just" eaLnBrk="1" hangingPunct="1"/>
            <a:r>
              <a:rPr lang="pt-BR" altLang="pt-BR" sz="2800" dirty="0"/>
              <a:t>símbolos de pontuação (</a:t>
            </a:r>
            <a:r>
              <a:rPr lang="pt-BR" altLang="pt-BR" sz="2800" i="1" dirty="0"/>
              <a:t>; , {, }</a:t>
            </a:r>
            <a:r>
              <a:rPr lang="pt-BR" altLang="pt-BR" sz="2800" dirty="0"/>
              <a:t>),</a:t>
            </a:r>
          </a:p>
          <a:p>
            <a:pPr algn="just" eaLnBrk="1" hangingPunct="1"/>
            <a:r>
              <a:rPr lang="pt-BR" altLang="pt-BR" sz="2800" dirty="0" err="1"/>
              <a:t>labels</a:t>
            </a:r>
            <a:r>
              <a:rPr lang="pt-BR" alt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69783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Large confetti"/>
          <p:cNvSpPr txBox="1">
            <a:spLocks noChangeArrowheads="1"/>
          </p:cNvSpPr>
          <p:nvPr/>
        </p:nvSpPr>
        <p:spPr>
          <a:xfrm>
            <a:off x="539552" y="755625"/>
            <a:ext cx="6878638" cy="9350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pt-BR" altLang="pt-BR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Análise Léxica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827584" y="1690663"/>
            <a:ext cx="7560839" cy="45365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1" hangingPunct="1">
              <a:lnSpc>
                <a:spcPct val="90000"/>
              </a:lnSpc>
              <a:buFontTx/>
              <a:buNone/>
              <a:tabLst>
                <a:tab pos="3230563" algn="l"/>
              </a:tabLst>
            </a:pPr>
            <a:r>
              <a:rPr lang="pt-BR" altLang="pt-BR" dirty="0" err="1"/>
              <a:t>constanteInt</a:t>
            </a:r>
            <a:r>
              <a:rPr lang="pt-BR" altLang="pt-BR" dirty="0"/>
              <a:t> 	</a:t>
            </a:r>
            <a:r>
              <a:rPr lang="pt-BR" altLang="pt-BR" dirty="0">
                <a:sym typeface="Symbol" panose="05050102010706020507" pitchFamily="18" charset="2"/>
              </a:rPr>
              <a:t> digito </a:t>
            </a:r>
            <a:r>
              <a:rPr lang="pt-BR" altLang="pt-BR" dirty="0" err="1">
                <a:sym typeface="Symbol" panose="05050102010706020507" pitchFamily="18" charset="2"/>
              </a:rPr>
              <a:t>digito</a:t>
            </a:r>
            <a:r>
              <a:rPr lang="pt-BR" altLang="pt-BR" dirty="0">
                <a:sym typeface="Symbol" panose="05050102010706020507" pitchFamily="18" charset="2"/>
              </a:rPr>
              <a:t>*</a:t>
            </a:r>
          </a:p>
          <a:p>
            <a:pPr marL="0" indent="0" algn="just" eaLnBrk="1" hangingPunct="1">
              <a:lnSpc>
                <a:spcPct val="90000"/>
              </a:lnSpc>
              <a:buFontTx/>
              <a:buNone/>
              <a:tabLst>
                <a:tab pos="3230563" algn="l"/>
              </a:tabLst>
            </a:pPr>
            <a:r>
              <a:rPr lang="pt-BR" altLang="pt-BR" dirty="0" err="1">
                <a:sym typeface="Symbol" panose="05050102010706020507" pitchFamily="18" charset="2"/>
              </a:rPr>
              <a:t>constanteDouble</a:t>
            </a:r>
            <a:r>
              <a:rPr lang="pt-BR" altLang="pt-BR" dirty="0">
                <a:sym typeface="Symbol" panose="05050102010706020507" pitchFamily="18" charset="2"/>
              </a:rPr>
              <a:t> 	 digito </a:t>
            </a:r>
            <a:r>
              <a:rPr lang="pt-BR" altLang="pt-BR" dirty="0" err="1">
                <a:sym typeface="Symbol" panose="05050102010706020507" pitchFamily="18" charset="2"/>
              </a:rPr>
              <a:t>digito</a:t>
            </a:r>
            <a:r>
              <a:rPr lang="pt-BR" altLang="pt-BR" dirty="0">
                <a:sym typeface="Symbol" panose="05050102010706020507" pitchFamily="18" charset="2"/>
              </a:rPr>
              <a:t>*. digito*</a:t>
            </a:r>
          </a:p>
          <a:p>
            <a:pPr marL="0" indent="0" algn="just" eaLnBrk="1" hangingPunct="1">
              <a:lnSpc>
                <a:spcPct val="90000"/>
              </a:lnSpc>
              <a:buFontTx/>
              <a:buNone/>
              <a:tabLst>
                <a:tab pos="3230563" algn="l"/>
              </a:tabLst>
            </a:pPr>
            <a:r>
              <a:rPr lang="pt-BR" altLang="pt-BR" dirty="0">
                <a:sym typeface="Symbol" panose="05050102010706020507" pitchFamily="18" charset="2"/>
              </a:rPr>
              <a:t>		 </a:t>
            </a:r>
          </a:p>
          <a:p>
            <a:pPr marL="0" indent="0" algn="just" eaLnBrk="1" hangingPunct="1">
              <a:lnSpc>
                <a:spcPct val="90000"/>
              </a:lnSpc>
              <a:buFontTx/>
              <a:buNone/>
              <a:tabLst>
                <a:tab pos="3230563" algn="l"/>
              </a:tabLst>
            </a:pPr>
            <a:endParaRPr lang="pt-BR" altLang="pt-BR" dirty="0">
              <a:sym typeface="Symbol" panose="05050102010706020507" pitchFamily="18" charset="2"/>
            </a:endParaRPr>
          </a:p>
          <a:p>
            <a:pPr marL="0" indent="0" algn="just" eaLnBrk="1" hangingPunct="1">
              <a:lnSpc>
                <a:spcPct val="90000"/>
              </a:lnSpc>
              <a:buFontTx/>
              <a:buNone/>
              <a:tabLst>
                <a:tab pos="3230563" algn="l"/>
              </a:tabLst>
            </a:pPr>
            <a:r>
              <a:rPr lang="pt-BR" altLang="pt-BR" dirty="0">
                <a:sym typeface="Symbol" panose="05050102010706020507" pitchFamily="18" charset="2"/>
              </a:rPr>
              <a:t>digito  {0, 1, 2, 3, 4, 5, 6, 7, 8, 9} </a:t>
            </a:r>
          </a:p>
          <a:p>
            <a:pPr marL="0" indent="0" algn="just" eaLnBrk="1" hangingPunct="1">
              <a:lnSpc>
                <a:spcPct val="90000"/>
              </a:lnSpc>
              <a:buFontTx/>
              <a:buNone/>
              <a:tabLst>
                <a:tab pos="3230563" algn="l"/>
              </a:tabLst>
            </a:pPr>
            <a:endParaRPr lang="pt-BR" altLang="pt-BR" dirty="0"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pt-BR" altLang="pt-BR" sz="24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X* Representa uma </a:t>
            </a:r>
            <a:r>
              <a:rPr lang="pt-BR" altLang="pt-BR" sz="2400" i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seqüência</a:t>
            </a:r>
            <a:r>
              <a:rPr lang="pt-BR" altLang="pt-BR" sz="24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zero ou mais X. </a:t>
            </a:r>
          </a:p>
          <a:p>
            <a:pPr marL="0" indent="0" algn="just" eaLnBrk="1" hangingPunct="1">
              <a:lnSpc>
                <a:spcPct val="90000"/>
              </a:lnSpc>
              <a:buFontTx/>
              <a:buNone/>
              <a:tabLst>
                <a:tab pos="3230563" algn="l"/>
              </a:tabLst>
            </a:pPr>
            <a:endParaRPr lang="pt-BR" altLang="pt-BR" dirty="0">
              <a:sym typeface="Symbol" panose="05050102010706020507" pitchFamily="18" charset="2"/>
            </a:endParaRPr>
          </a:p>
          <a:p>
            <a:pPr marL="0" indent="0" algn="just" eaLnBrk="1" hangingPunct="1">
              <a:lnSpc>
                <a:spcPct val="90000"/>
              </a:lnSpc>
              <a:buFontTx/>
              <a:buNone/>
              <a:tabLst>
                <a:tab pos="3230563" algn="l"/>
              </a:tabLst>
            </a:pPr>
            <a:r>
              <a:rPr lang="pt-BR" alt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5373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Large confetti"/>
          <p:cNvSpPr txBox="1">
            <a:spLocks noChangeArrowheads="1"/>
          </p:cNvSpPr>
          <p:nvPr/>
        </p:nvSpPr>
        <p:spPr>
          <a:xfrm>
            <a:off x="707628" y="836712"/>
            <a:ext cx="7772400" cy="91281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pt-BR" altLang="pt-BR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Analisador Léxico: Leitura dos comandos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539552" y="1628801"/>
            <a:ext cx="8229600" cy="35283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altLang="pt-BR" dirty="0"/>
              <a:t>Inicialização da Tabela de Símbolos</a:t>
            </a:r>
          </a:p>
          <a:p>
            <a:pPr eaLnBrk="1" hangingPunct="1">
              <a:buFontTx/>
              <a:buNone/>
            </a:pPr>
            <a:r>
              <a:rPr lang="pt-BR" altLang="pt-BR" sz="2800" dirty="0"/>
              <a:t>    - </a:t>
            </a:r>
            <a:r>
              <a:rPr lang="pt-BR" altLang="pt-BR" sz="2800" dirty="0" err="1">
                <a:latin typeface="Arial" panose="020B0604020202020204" pitchFamily="34" charset="0"/>
                <a:cs typeface="Times New Roman" panose="02020603050405020304" pitchFamily="18" charset="0"/>
              </a:rPr>
              <a:t>while</a:t>
            </a:r>
            <a:r>
              <a:rPr lang="pt-BR" altLang="pt-BR" sz="2800" dirty="0">
                <a:latin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pt-BR" altLang="pt-BR" sz="2800" dirty="0" err="1">
                <a:latin typeface="Arial" panose="020B0604020202020204" pitchFamily="34" charset="0"/>
                <a:cs typeface="Times New Roman" panose="02020603050405020304" pitchFamily="18" charset="0"/>
              </a:rPr>
              <a:t>if</a:t>
            </a:r>
            <a:r>
              <a:rPr lang="pt-BR" altLang="pt-BR" sz="2800" dirty="0">
                <a:latin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pt-BR" altLang="pt-BR" sz="2800" dirty="0" err="1">
                <a:latin typeface="Arial" panose="020B0604020202020204" pitchFamily="34" charset="0"/>
                <a:cs typeface="Times New Roman" panose="02020603050405020304" pitchFamily="18" charset="0"/>
              </a:rPr>
              <a:t>else</a:t>
            </a:r>
            <a:r>
              <a:rPr lang="pt-BR" altLang="pt-BR" sz="2800" dirty="0">
                <a:latin typeface="Arial" panose="020B0604020202020204" pitchFamily="34" charset="0"/>
                <a:cs typeface="Times New Roman" panose="02020603050405020304" pitchFamily="18" charset="0"/>
              </a:rPr>
              <a:t>, for, switch, case</a:t>
            </a:r>
            <a:r>
              <a:rPr lang="pt-BR" altLang="pt-BR" sz="2800" dirty="0"/>
              <a:t> </a:t>
            </a:r>
          </a:p>
          <a:p>
            <a:pPr eaLnBrk="1" hangingPunct="1"/>
            <a:r>
              <a:rPr lang="pt-BR" altLang="pt-BR" dirty="0"/>
              <a:t>Leitura das linhas de comando</a:t>
            </a:r>
          </a:p>
          <a:p>
            <a:pPr eaLnBrk="1" hangingPunct="1"/>
            <a:r>
              <a:rPr lang="pt-BR" altLang="pt-BR" dirty="0"/>
              <a:t>Reconhecimento de Comentários</a:t>
            </a:r>
          </a:p>
          <a:p>
            <a:pPr eaLnBrk="1" hangingPunct="1"/>
            <a:r>
              <a:rPr lang="pt-BR" altLang="pt-BR" dirty="0"/>
              <a:t>Separação das expressões delimitadas com ponto e vírgula</a:t>
            </a:r>
          </a:p>
        </p:txBody>
      </p:sp>
    </p:spTree>
    <p:extLst>
      <p:ext uri="{BB962C8B-B14F-4D97-AF65-F5344CB8AC3E}">
        <p14:creationId xmlns:p14="http://schemas.microsoft.com/office/powerpoint/2010/main" val="17178072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Large confetti"/>
          <p:cNvSpPr txBox="1">
            <a:spLocks noChangeArrowheads="1"/>
          </p:cNvSpPr>
          <p:nvPr/>
        </p:nvSpPr>
        <p:spPr>
          <a:xfrm>
            <a:off x="457200" y="764704"/>
            <a:ext cx="8229600" cy="7200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pt-BR" altLang="pt-BR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Analisador Léxico: Validação de Token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539552" y="1700809"/>
            <a:ext cx="8229600" cy="40324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pt-BR" sz="2800" dirty="0"/>
              <a:t>Reconhece Identificadores</a:t>
            </a:r>
          </a:p>
          <a:p>
            <a:pPr eaLnBrk="1" hangingPunct="1">
              <a:defRPr/>
            </a:pPr>
            <a:r>
              <a:rPr lang="pt-BR" sz="2800" dirty="0"/>
              <a:t>Reconhece Operadores aritméticos</a:t>
            </a:r>
          </a:p>
          <a:p>
            <a:pPr eaLnBrk="1" hangingPunct="1">
              <a:buFontTx/>
              <a:buNone/>
              <a:defRPr/>
            </a:pPr>
            <a:r>
              <a:rPr lang="pt-BR" sz="2400" dirty="0"/>
              <a:t>    Soma, Subtração, Multiplicação e Divisão</a:t>
            </a:r>
          </a:p>
          <a:p>
            <a:pPr eaLnBrk="1" hangingPunct="1">
              <a:defRPr/>
            </a:pPr>
            <a:r>
              <a:rPr lang="pt-BR" sz="2800" dirty="0"/>
              <a:t>Reconhece Operadores Relacionais</a:t>
            </a:r>
          </a:p>
          <a:p>
            <a:pPr eaLnBrk="1" hangingPunct="1">
              <a:buFontTx/>
              <a:buNone/>
              <a:defRPr/>
            </a:pPr>
            <a:r>
              <a:rPr lang="pt-BR" sz="2800" dirty="0"/>
              <a:t>    </a:t>
            </a:r>
            <a:r>
              <a:rPr lang="pt-BR" sz="2800" dirty="0">
                <a:solidFill>
                  <a:srgbClr val="1FF72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&gt; </a:t>
            </a:r>
            <a:r>
              <a:rPr lang="pt-BR" sz="2800" dirty="0">
                <a:latin typeface="Arial" charset="0"/>
                <a:cs typeface="Arial" charset="0"/>
              </a:rPr>
              <a:t>, </a:t>
            </a:r>
            <a:r>
              <a:rPr lang="pt-BR" sz="2800" dirty="0">
                <a:solidFill>
                  <a:srgbClr val="1FF72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&lt; </a:t>
            </a:r>
            <a:r>
              <a:rPr lang="pt-BR" sz="2800" dirty="0">
                <a:latin typeface="Arial" charset="0"/>
                <a:cs typeface="Arial" charset="0"/>
              </a:rPr>
              <a:t>, </a:t>
            </a:r>
            <a:r>
              <a:rPr lang="pt-BR" sz="2800" dirty="0">
                <a:solidFill>
                  <a:srgbClr val="1FF72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&lt;&gt; </a:t>
            </a:r>
            <a:r>
              <a:rPr lang="pt-BR" sz="2800" dirty="0">
                <a:latin typeface="Arial" charset="0"/>
                <a:cs typeface="Arial" charset="0"/>
              </a:rPr>
              <a:t>, </a:t>
            </a:r>
            <a:r>
              <a:rPr lang="pt-BR" sz="2800" dirty="0">
                <a:solidFill>
                  <a:srgbClr val="1FF72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&lt;= </a:t>
            </a:r>
            <a:r>
              <a:rPr lang="pt-BR" sz="2800" dirty="0">
                <a:latin typeface="Arial" charset="0"/>
                <a:cs typeface="Arial" charset="0"/>
              </a:rPr>
              <a:t>, </a:t>
            </a:r>
            <a:r>
              <a:rPr lang="pt-BR" sz="2800" dirty="0">
                <a:solidFill>
                  <a:srgbClr val="1FF72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&gt;= </a:t>
            </a:r>
            <a:r>
              <a:rPr lang="pt-BR" sz="2800" dirty="0">
                <a:latin typeface="Arial" charset="0"/>
                <a:cs typeface="Arial" charset="0"/>
              </a:rPr>
              <a:t>, </a:t>
            </a:r>
            <a:r>
              <a:rPr lang="pt-BR" sz="2800" dirty="0">
                <a:solidFill>
                  <a:srgbClr val="1FF72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=</a:t>
            </a:r>
            <a:r>
              <a:rPr lang="pt-BR" sz="2800" dirty="0"/>
              <a:t> </a:t>
            </a:r>
          </a:p>
          <a:p>
            <a:pPr eaLnBrk="1" hangingPunct="1">
              <a:defRPr/>
            </a:pPr>
            <a:r>
              <a:rPr lang="pt-BR" sz="2800" dirty="0"/>
              <a:t>Reconhece números, inteiros e decimais</a:t>
            </a:r>
          </a:p>
          <a:p>
            <a:pPr eaLnBrk="1" hangingPunct="1">
              <a:defRPr/>
            </a:pPr>
            <a:r>
              <a:rPr lang="pt-BR" sz="2800" dirty="0"/>
              <a:t>Valida o </a:t>
            </a:r>
            <a:r>
              <a:rPr lang="pt-BR" sz="2800" dirty="0" err="1"/>
              <a:t>token</a:t>
            </a:r>
            <a:r>
              <a:rPr lang="pt-BR" sz="2800" dirty="0"/>
              <a:t> em relação ao anterior</a:t>
            </a:r>
          </a:p>
          <a:p>
            <a:pPr eaLnBrk="1" hangingPunct="1">
              <a:defRPr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6227532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Large confetti"/>
          <p:cNvSpPr txBox="1">
            <a:spLocks noChangeArrowheads="1"/>
          </p:cNvSpPr>
          <p:nvPr/>
        </p:nvSpPr>
        <p:spPr>
          <a:xfrm>
            <a:off x="504524" y="620688"/>
            <a:ext cx="7439025" cy="10795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pt-BR" altLang="pt-BR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Analisador Léxico</a:t>
            </a:r>
            <a:br>
              <a:rPr lang="pt-BR" altLang="pt-BR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pt-BR" altLang="pt-BR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Armazenamento: </a:t>
            </a:r>
            <a:r>
              <a:rPr lang="pt-BR" altLang="pt-BR" sz="3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Tokens</a:t>
            </a:r>
            <a:r>
              <a:rPr lang="pt-BR" altLang="pt-BR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e Erros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539552" y="1844824"/>
            <a:ext cx="8229600" cy="43100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pt-BR" altLang="pt-BR" dirty="0"/>
              <a:t>Os </a:t>
            </a:r>
            <a:r>
              <a:rPr lang="pt-BR" altLang="pt-BR" dirty="0" err="1"/>
              <a:t>tokens</a:t>
            </a:r>
            <a:r>
              <a:rPr lang="pt-BR" altLang="pt-BR" dirty="0"/>
              <a:t> são armazenados nas seguintes tabelas: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BR" altLang="pt-BR" dirty="0"/>
              <a:t>    - Tabela de Símbolos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BR" altLang="pt-BR" dirty="0"/>
              <a:t>    - Tabela de Operadores Aritméticos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BR" altLang="pt-BR" dirty="0"/>
              <a:t>    - Tabela de Operadores Relacionais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BR" altLang="pt-BR" dirty="0"/>
              <a:t>    - Tabela de Números Identificados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dirty="0"/>
              <a:t>Os erros são armazenados na tabela de Erros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7122762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ço Reservado para Número de Slide 5"/>
          <p:cNvSpPr txBox="1">
            <a:spLocks noGrp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50000"/>
              </a:spcBef>
              <a:buSzTx/>
              <a:buFontTx/>
              <a:buNone/>
            </a:pPr>
            <a:fld id="{286A9999-006D-4744-8FE9-488E03606883}" type="slidenum">
              <a:rPr lang="en-US" altLang="pt-BR" sz="1400">
                <a:solidFill>
                  <a:srgbClr val="FFFF00"/>
                </a:solidFill>
              </a:rPr>
              <a:pPr algn="r">
                <a:spcBef>
                  <a:spcPct val="50000"/>
                </a:spcBef>
                <a:buSzTx/>
                <a:buFontTx/>
                <a:buNone/>
              </a:pPr>
              <a:t>36</a:t>
            </a:fld>
            <a:endParaRPr lang="en-US" altLang="pt-BR" sz="1400"/>
          </a:p>
        </p:txBody>
      </p:sp>
      <p:sp>
        <p:nvSpPr>
          <p:cNvPr id="34819" name="Rectangle 2" descr="Large confetti"/>
          <p:cNvSpPr>
            <a:spLocks noGrp="1" noChangeArrowheads="1"/>
          </p:cNvSpPr>
          <p:nvPr>
            <p:ph type="title" idx="4294967295"/>
          </p:nvPr>
        </p:nvSpPr>
        <p:spPr>
          <a:xfrm>
            <a:off x="311150" y="1033463"/>
            <a:ext cx="8229600" cy="114300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pt-BR" altLang="pt-BR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Exercício de recapitulação:</a:t>
            </a:r>
            <a:br>
              <a:rPr lang="pt-BR" altLang="pt-BR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endParaRPr lang="pt-BR" altLang="pt-BR" sz="3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2492375"/>
            <a:ext cx="7772400" cy="655638"/>
          </a:xfrm>
        </p:spPr>
        <p:txBody>
          <a:bodyPr lIns="92075" tIns="46038" rIns="92075" bIns="46038"/>
          <a:lstStyle/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pt-BR" altLang="pt-BR" sz="2400"/>
              <a:t>Construa a tabela de símbolos da Análise Léxica do enunciado do código fonte a seguir:</a:t>
            </a:r>
            <a:endParaRPr lang="pt-BR" altLang="pt-BR" sz="2400" i="1"/>
          </a:p>
        </p:txBody>
      </p:sp>
      <p:sp>
        <p:nvSpPr>
          <p:cNvPr id="34821" name="Text Box 4"/>
          <p:cNvSpPr txBox="1">
            <a:spLocks noChangeArrowheads="1"/>
          </p:cNvSpPr>
          <p:nvPr/>
        </p:nvSpPr>
        <p:spPr bwMode="auto">
          <a:xfrm>
            <a:off x="250825" y="3860800"/>
            <a:ext cx="8569325" cy="928688"/>
          </a:xfrm>
          <a:prstGeom prst="rect">
            <a:avLst/>
          </a:prstGeom>
          <a:solidFill>
            <a:schemeClr val="bg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endParaRPr lang="pt-BR" altLang="pt-BR" sz="2000" dirty="0">
              <a:solidFill>
                <a:srgbClr val="FFFF00"/>
              </a:solidFill>
              <a:latin typeface="Courier New" panose="02070309020205020404" pitchFamily="49" charset="0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r>
              <a:rPr lang="pt-BR" altLang="pt-BR" sz="2000" b="1" dirty="0">
                <a:latin typeface="Courier New" panose="02070309020205020404" pitchFamily="49" charset="0"/>
              </a:rPr>
              <a:t>montante := </a:t>
            </a:r>
            <a:r>
              <a:rPr lang="pt-BR" altLang="pt-BR" sz="2000" b="1" dirty="0" err="1">
                <a:latin typeface="Courier New" panose="02070309020205020404" pitchFamily="49" charset="0"/>
              </a:rPr>
              <a:t>deposito_inicial</a:t>
            </a:r>
            <a:r>
              <a:rPr lang="pt-BR" altLang="pt-BR" sz="2000" b="1" dirty="0">
                <a:latin typeface="Courier New" panose="02070309020205020404" pitchFamily="49" charset="0"/>
              </a:rPr>
              <a:t> +  </a:t>
            </a:r>
            <a:r>
              <a:rPr lang="pt-BR" altLang="pt-BR" sz="2000" b="1" dirty="0" err="1">
                <a:latin typeface="Courier New" panose="02070309020205020404" pitchFamily="49" charset="0"/>
              </a:rPr>
              <a:t>taxa_de_juros</a:t>
            </a:r>
            <a:r>
              <a:rPr lang="pt-BR" altLang="pt-BR" sz="2000" b="1" dirty="0">
                <a:latin typeface="Courier New" panose="02070309020205020404" pitchFamily="49" charset="0"/>
              </a:rPr>
              <a:t> * 60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SzTx/>
              <a:buFontTx/>
              <a:buNone/>
            </a:pPr>
            <a:endParaRPr lang="pt-BR" alt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17111403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9"/>
          <p:cNvSpPr txBox="1"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 spcFirstLastPara="1" vert="horz" wrap="square" lIns="91425" tIns="91425" rIns="91425" bIns="9142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F25CC6E2-300B-E0E8-F2E3-ED2416A47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376" y="1844824"/>
            <a:ext cx="79255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alt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Rockwell Extra Bold" panose="02060903040505020403" pitchFamily="18" charset="0"/>
                <a:ea typeface="+mn-ea"/>
                <a:cs typeface="Arial" charset="0"/>
                <a:sym typeface="Arial"/>
              </a:rPr>
              <a:t>Dúvidas, perguntas, comentários?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D6CD617-1034-7A0C-55EA-8D4584D74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935751"/>
            <a:ext cx="2717884" cy="1994735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C7965B77-E902-DCFC-4FD3-7B0F49C9D3D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7664" y="2935751"/>
            <a:ext cx="2428875" cy="214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518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o Office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Escritório Clássico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2239</TotalTime>
  <Words>1465</Words>
  <Application>Microsoft Office PowerPoint</Application>
  <PresentationFormat>Apresentação na tela (4:3)</PresentationFormat>
  <Paragraphs>204</Paragraphs>
  <Slides>37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8" baseType="lpstr">
      <vt:lpstr>Arial</vt:lpstr>
      <vt:lpstr>Arial MT</vt:lpstr>
      <vt:lpstr>Bookman Old Style</vt:lpstr>
      <vt:lpstr>Calibri</vt:lpstr>
      <vt:lpstr>Comic Sans MS</vt:lpstr>
      <vt:lpstr>Courier New</vt:lpstr>
      <vt:lpstr>Letter Gothic</vt:lpstr>
      <vt:lpstr>Rockwell Extra Bold</vt:lpstr>
      <vt:lpstr>Times New Roman</vt:lpstr>
      <vt:lpstr>Wingdings</vt:lpstr>
      <vt:lpstr>Tema do Office</vt:lpstr>
      <vt:lpstr>Apresentação do PowerPoint</vt:lpstr>
      <vt:lpstr>Apresentação do PowerPoint</vt:lpstr>
      <vt:lpstr>Por que é importante conhecer os Compiladores?</vt:lpstr>
      <vt:lpstr>O Compilador e outras disciplinas</vt:lpstr>
      <vt:lpstr>Apresentação do PowerPoint</vt:lpstr>
      <vt:lpstr>Programas auxiliares do processo de compilação</vt:lpstr>
      <vt:lpstr>Programas auxiliares do processo de compilação (cont.)</vt:lpstr>
      <vt:lpstr>Interpretador x Compilador</vt:lpstr>
      <vt:lpstr>Interpretador</vt:lpstr>
      <vt:lpstr>Interpretador</vt:lpstr>
      <vt:lpstr>Diferenças entre Compiladores e Interpretadores</vt:lpstr>
      <vt:lpstr>Filtro                     (Conversor de Linguagem)</vt:lpstr>
      <vt:lpstr>Pré-processador</vt:lpstr>
      <vt:lpstr>Bibliotecas</vt:lpstr>
      <vt:lpstr>Compilação: Análise e Síntese</vt:lpstr>
      <vt:lpstr>Apresentação do PowerPoint</vt:lpstr>
      <vt:lpstr>Fases de um compilador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Programas baseados em análise</vt:lpstr>
      <vt:lpstr>A fase da análise léxica</vt:lpstr>
      <vt:lpstr>Análise léxica ou Scanning</vt:lpstr>
      <vt:lpstr>Exemplo</vt:lpstr>
      <vt:lpstr>Tabela de Símbolos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Exercício de recapitulação: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Conteúdo Programático</dc:title>
  <dc:subject>Introducao a Informatica</dc:subject>
  <dc:creator>Eduardo Castro</dc:creator>
  <cp:lastModifiedBy>Leonardo Pol Suarez</cp:lastModifiedBy>
  <cp:revision>254</cp:revision>
  <dcterms:created xsi:type="dcterms:W3CDTF">2014-02-14T18:36:01Z</dcterms:created>
  <dcterms:modified xsi:type="dcterms:W3CDTF">2025-09-22T11:07:52Z</dcterms:modified>
</cp:coreProperties>
</file>